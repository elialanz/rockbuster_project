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Bold" charset="1" panose="020B0802030000000004"/>
      <p:regular r:id="rId16"/>
    </p:embeddedFont>
    <p:embeddedFont>
      <p:font typeface="Inter" charset="1" panose="020B0502030000000004"/>
      <p:regular r:id="rId17"/>
    </p:embeddedFont>
    <p:embeddedFont>
      <p:font typeface="Futura" charset="1" panose="020B0502020204020303"/>
      <p:regular r:id="rId18"/>
    </p:embeddedFont>
    <p:embeddedFont>
      <p:font typeface="Futura Bold" charset="1" panose="020B07020202040202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24240" y="4691978"/>
            <a:ext cx="4563771" cy="903044"/>
            <a:chOff x="0" y="0"/>
            <a:chExt cx="1201981" cy="237839"/>
          </a:xfrm>
        </p:grpSpPr>
        <p:sp>
          <p:nvSpPr>
            <p:cNvPr name="Freeform 3" id="3"/>
            <p:cNvSpPr/>
            <p:nvPr/>
          </p:nvSpPr>
          <p:spPr>
            <a:xfrm flipH="false" flipV="false" rot="0">
              <a:off x="0" y="0"/>
              <a:ext cx="1201981" cy="237839"/>
            </a:xfrm>
            <a:custGeom>
              <a:avLst/>
              <a:gdLst/>
              <a:ahLst/>
              <a:cxnLst/>
              <a:rect r="r" b="b" t="t" l="l"/>
              <a:pathLst>
                <a:path h="237839" w="1201981">
                  <a:moveTo>
                    <a:pt x="0" y="0"/>
                  </a:moveTo>
                  <a:lnTo>
                    <a:pt x="1201981" y="0"/>
                  </a:lnTo>
                  <a:lnTo>
                    <a:pt x="1201981" y="237839"/>
                  </a:lnTo>
                  <a:lnTo>
                    <a:pt x="0" y="237839"/>
                  </a:lnTo>
                  <a:close/>
                </a:path>
              </a:pathLst>
            </a:custGeom>
            <a:solidFill>
              <a:srgbClr val="7ED957">
                <a:alpha val="9804"/>
              </a:srgbClr>
            </a:solidFill>
          </p:spPr>
        </p:sp>
        <p:sp>
          <p:nvSpPr>
            <p:cNvPr name="TextBox 4" id="4"/>
            <p:cNvSpPr txBox="true"/>
            <p:nvPr/>
          </p:nvSpPr>
          <p:spPr>
            <a:xfrm>
              <a:off x="0" y="-9525"/>
              <a:ext cx="1201981" cy="247364"/>
            </a:xfrm>
            <a:prstGeom prst="rect">
              <a:avLst/>
            </a:prstGeom>
          </p:spPr>
          <p:txBody>
            <a:bodyPr anchor="ctr" rtlCol="false" tIns="50800" lIns="50800" bIns="50800" rIns="50800"/>
            <a:lstStyle/>
            <a:p>
              <a:pPr algn="ctr">
                <a:lnSpc>
                  <a:spcPts val="2123"/>
                </a:lnSpc>
              </a:pPr>
            </a:p>
          </p:txBody>
        </p:sp>
      </p:grpSp>
      <p:sp>
        <p:nvSpPr>
          <p:cNvPr name="Freeform 5" id="5"/>
          <p:cNvSpPr/>
          <p:nvPr/>
        </p:nvSpPr>
        <p:spPr>
          <a:xfrm flipH="false" flipV="false" rot="2700000">
            <a:off x="7022682" y="1464599"/>
            <a:ext cx="4242636" cy="4035807"/>
          </a:xfrm>
          <a:custGeom>
            <a:avLst/>
            <a:gdLst/>
            <a:ahLst/>
            <a:cxnLst/>
            <a:rect r="r" b="b" t="t" l="l"/>
            <a:pathLst>
              <a:path h="4035807" w="4242636">
                <a:moveTo>
                  <a:pt x="0" y="0"/>
                </a:moveTo>
                <a:lnTo>
                  <a:pt x="4242636" y="0"/>
                </a:lnTo>
                <a:lnTo>
                  <a:pt x="4242636" y="4035808"/>
                </a:lnTo>
                <a:lnTo>
                  <a:pt x="0" y="40358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133337" y="4209181"/>
            <a:ext cx="10021326" cy="3230631"/>
          </a:xfrm>
          <a:prstGeom prst="rect">
            <a:avLst/>
          </a:prstGeom>
        </p:spPr>
        <p:txBody>
          <a:bodyPr anchor="t" rtlCol="false" tIns="0" lIns="0" bIns="0" rIns="0">
            <a:spAutoFit/>
          </a:bodyPr>
          <a:lstStyle/>
          <a:p>
            <a:pPr algn="ctr">
              <a:lnSpc>
                <a:spcPts val="12798"/>
              </a:lnSpc>
            </a:pPr>
            <a:r>
              <a:rPr lang="en-US" b="true" sz="10239" spc="286">
                <a:solidFill>
                  <a:srgbClr val="404040"/>
                </a:solidFill>
                <a:latin typeface="Inter Bold"/>
                <a:ea typeface="Inter Bold"/>
                <a:cs typeface="Inter Bold"/>
                <a:sym typeface="Inter Bold"/>
              </a:rPr>
              <a:t>ROCKBUSTER</a:t>
            </a:r>
          </a:p>
          <a:p>
            <a:pPr algn="ctr">
              <a:lnSpc>
                <a:spcPts val="12798"/>
              </a:lnSpc>
            </a:pPr>
            <a:r>
              <a:rPr lang="en-US" b="true" sz="10239" spc="286">
                <a:solidFill>
                  <a:srgbClr val="404040"/>
                </a:solidFill>
                <a:latin typeface="Inter Bold"/>
                <a:ea typeface="Inter Bold"/>
                <a:cs typeface="Inter Bold"/>
                <a:sym typeface="Inter Bold"/>
              </a:rPr>
              <a:t>STEALTH</a:t>
            </a:r>
          </a:p>
        </p:txBody>
      </p:sp>
      <p:sp>
        <p:nvSpPr>
          <p:cNvPr name="TextBox 7" id="7"/>
          <p:cNvSpPr txBox="true"/>
          <p:nvPr/>
        </p:nvSpPr>
        <p:spPr>
          <a:xfrm rot="0">
            <a:off x="1028700" y="1019175"/>
            <a:ext cx="2512675" cy="268201"/>
          </a:xfrm>
          <a:prstGeom prst="rect">
            <a:avLst/>
          </a:prstGeom>
        </p:spPr>
        <p:txBody>
          <a:bodyPr anchor="t" rtlCol="false" tIns="0" lIns="0" bIns="0" rIns="0">
            <a:spAutoFit/>
          </a:bodyPr>
          <a:lstStyle/>
          <a:p>
            <a:pPr algn="l">
              <a:lnSpc>
                <a:spcPts val="2123"/>
              </a:lnSpc>
            </a:pPr>
            <a:r>
              <a:rPr lang="en-US" sz="1740">
                <a:solidFill>
                  <a:srgbClr val="000000"/>
                </a:solidFill>
                <a:latin typeface="Inter"/>
                <a:ea typeface="Inter"/>
                <a:cs typeface="Inter"/>
                <a:sym typeface="Inter"/>
              </a:rPr>
              <a:t>NAME OF PROJECT</a:t>
            </a:r>
          </a:p>
        </p:txBody>
      </p:sp>
      <p:sp>
        <p:nvSpPr>
          <p:cNvPr name="TextBox 8" id="8"/>
          <p:cNvSpPr txBox="true"/>
          <p:nvPr/>
        </p:nvSpPr>
        <p:spPr>
          <a:xfrm rot="0">
            <a:off x="1028700" y="1359076"/>
            <a:ext cx="4334506" cy="268201"/>
          </a:xfrm>
          <a:prstGeom prst="rect">
            <a:avLst/>
          </a:prstGeom>
        </p:spPr>
        <p:txBody>
          <a:bodyPr anchor="t" rtlCol="false" tIns="0" lIns="0" bIns="0" rIns="0">
            <a:spAutoFit/>
          </a:bodyPr>
          <a:lstStyle/>
          <a:p>
            <a:pPr algn="l">
              <a:lnSpc>
                <a:spcPts val="2123"/>
              </a:lnSpc>
            </a:pPr>
            <a:r>
              <a:rPr lang="en-US" sz="1740">
                <a:solidFill>
                  <a:srgbClr val="000000"/>
                </a:solidFill>
                <a:latin typeface="Inter"/>
                <a:ea typeface="Inter"/>
                <a:cs typeface="Inter"/>
                <a:sym typeface="Inter"/>
              </a:rPr>
              <a:t>Customers and Sales Insights</a:t>
            </a:r>
          </a:p>
        </p:txBody>
      </p:sp>
      <p:sp>
        <p:nvSpPr>
          <p:cNvPr name="TextBox 9" id="9"/>
          <p:cNvSpPr txBox="true"/>
          <p:nvPr/>
        </p:nvSpPr>
        <p:spPr>
          <a:xfrm rot="0">
            <a:off x="14746625" y="1377646"/>
            <a:ext cx="2512675" cy="271804"/>
          </a:xfrm>
          <a:prstGeom prst="rect">
            <a:avLst/>
          </a:prstGeom>
        </p:spPr>
        <p:txBody>
          <a:bodyPr anchor="t" rtlCol="false" tIns="0" lIns="0" bIns="0" rIns="0">
            <a:spAutoFit/>
          </a:bodyPr>
          <a:lstStyle/>
          <a:p>
            <a:pPr algn="r">
              <a:lnSpc>
                <a:spcPts val="2123"/>
              </a:lnSpc>
            </a:pPr>
            <a:r>
              <a:rPr lang="en-US" sz="1740">
                <a:solidFill>
                  <a:srgbClr val="000000"/>
                </a:solidFill>
                <a:latin typeface="Inter"/>
                <a:ea typeface="Inter"/>
                <a:cs typeface="Inter"/>
                <a:sym typeface="Inter"/>
              </a:rPr>
              <a:t>09/09/2025</a:t>
            </a:r>
          </a:p>
        </p:txBody>
      </p:sp>
      <p:sp>
        <p:nvSpPr>
          <p:cNvPr name="TextBox 10" id="10"/>
          <p:cNvSpPr txBox="true"/>
          <p:nvPr/>
        </p:nvSpPr>
        <p:spPr>
          <a:xfrm rot="0">
            <a:off x="14851123" y="1019175"/>
            <a:ext cx="2408177" cy="271804"/>
          </a:xfrm>
          <a:prstGeom prst="rect">
            <a:avLst/>
          </a:prstGeom>
        </p:spPr>
        <p:txBody>
          <a:bodyPr anchor="t" rtlCol="false" tIns="0" lIns="0" bIns="0" rIns="0">
            <a:spAutoFit/>
          </a:bodyPr>
          <a:lstStyle/>
          <a:p>
            <a:pPr algn="r">
              <a:lnSpc>
                <a:spcPts val="2123"/>
              </a:lnSpc>
            </a:pPr>
            <a:r>
              <a:rPr lang="en-US" sz="1740">
                <a:solidFill>
                  <a:srgbClr val="000000"/>
                </a:solidFill>
                <a:latin typeface="Inter"/>
                <a:ea typeface="Inter"/>
                <a:cs typeface="Inter"/>
                <a:sym typeface="Inter"/>
              </a:rPr>
              <a:t>DATE</a:t>
            </a:r>
          </a:p>
        </p:txBody>
      </p:sp>
      <p:sp>
        <p:nvSpPr>
          <p:cNvPr name="TextBox 11" id="11"/>
          <p:cNvSpPr txBox="true"/>
          <p:nvPr/>
        </p:nvSpPr>
        <p:spPr>
          <a:xfrm rot="0">
            <a:off x="1028700" y="9005123"/>
            <a:ext cx="2512675" cy="268201"/>
          </a:xfrm>
          <a:prstGeom prst="rect">
            <a:avLst/>
          </a:prstGeom>
        </p:spPr>
        <p:txBody>
          <a:bodyPr anchor="t" rtlCol="false" tIns="0" lIns="0" bIns="0" rIns="0">
            <a:spAutoFit/>
          </a:bodyPr>
          <a:lstStyle/>
          <a:p>
            <a:pPr algn="l">
              <a:lnSpc>
                <a:spcPts val="2123"/>
              </a:lnSpc>
            </a:pPr>
            <a:r>
              <a:rPr lang="en-US" sz="1740">
                <a:solidFill>
                  <a:srgbClr val="000000"/>
                </a:solidFill>
                <a:latin typeface="Inter"/>
                <a:ea typeface="Inter"/>
                <a:cs typeface="Inter"/>
                <a:sym typeface="Inter"/>
              </a:rPr>
              <a:t>RockBuster Stealth</a:t>
            </a:r>
          </a:p>
        </p:txBody>
      </p:sp>
      <p:sp>
        <p:nvSpPr>
          <p:cNvPr name="TextBox 12" id="12"/>
          <p:cNvSpPr txBox="true"/>
          <p:nvPr/>
        </p:nvSpPr>
        <p:spPr>
          <a:xfrm rot="0">
            <a:off x="14746625" y="8953424"/>
            <a:ext cx="2512675" cy="271804"/>
          </a:xfrm>
          <a:prstGeom prst="rect">
            <a:avLst/>
          </a:prstGeom>
        </p:spPr>
        <p:txBody>
          <a:bodyPr anchor="t" rtlCol="false" tIns="0" lIns="0" bIns="0" rIns="0">
            <a:spAutoFit/>
          </a:bodyPr>
          <a:lstStyle/>
          <a:p>
            <a:pPr algn="r">
              <a:lnSpc>
                <a:spcPts val="2123"/>
              </a:lnSpc>
            </a:pPr>
            <a:r>
              <a:rPr lang="en-US" sz="1740">
                <a:solidFill>
                  <a:srgbClr val="000000"/>
                </a:solidFill>
                <a:latin typeface="Inter"/>
                <a:ea typeface="Inter"/>
                <a:cs typeface="Inter"/>
                <a:sym typeface="Inter"/>
              </a:rPr>
              <a:t>Elia Lanzuise</a:t>
            </a:r>
          </a:p>
        </p:txBody>
      </p:sp>
      <p:sp>
        <p:nvSpPr>
          <p:cNvPr name="TextBox 13" id="13"/>
          <p:cNvSpPr txBox="true"/>
          <p:nvPr/>
        </p:nvSpPr>
        <p:spPr>
          <a:xfrm rot="0">
            <a:off x="1028700" y="8646652"/>
            <a:ext cx="2408177" cy="268201"/>
          </a:xfrm>
          <a:prstGeom prst="rect">
            <a:avLst/>
          </a:prstGeom>
        </p:spPr>
        <p:txBody>
          <a:bodyPr anchor="t" rtlCol="false" tIns="0" lIns="0" bIns="0" rIns="0">
            <a:spAutoFit/>
          </a:bodyPr>
          <a:lstStyle/>
          <a:p>
            <a:pPr algn="l">
              <a:lnSpc>
                <a:spcPts val="2123"/>
              </a:lnSpc>
            </a:pPr>
            <a:r>
              <a:rPr lang="en-US" sz="1740">
                <a:solidFill>
                  <a:srgbClr val="000000"/>
                </a:solidFill>
                <a:latin typeface="Inter"/>
                <a:ea typeface="Inter"/>
                <a:cs typeface="Inter"/>
                <a:sym typeface="Inter"/>
              </a:rPr>
              <a:t>NAME OF COMPANY</a:t>
            </a:r>
          </a:p>
        </p:txBody>
      </p:sp>
      <p:sp>
        <p:nvSpPr>
          <p:cNvPr name="TextBox 14" id="14"/>
          <p:cNvSpPr txBox="true"/>
          <p:nvPr/>
        </p:nvSpPr>
        <p:spPr>
          <a:xfrm rot="0">
            <a:off x="14851123" y="8594953"/>
            <a:ext cx="2408177" cy="271804"/>
          </a:xfrm>
          <a:prstGeom prst="rect">
            <a:avLst/>
          </a:prstGeom>
        </p:spPr>
        <p:txBody>
          <a:bodyPr anchor="t" rtlCol="false" tIns="0" lIns="0" bIns="0" rIns="0">
            <a:spAutoFit/>
          </a:bodyPr>
          <a:lstStyle/>
          <a:p>
            <a:pPr algn="r">
              <a:lnSpc>
                <a:spcPts val="2123"/>
              </a:lnSpc>
            </a:pPr>
            <a:r>
              <a:rPr lang="en-US" sz="1740">
                <a:solidFill>
                  <a:srgbClr val="000000"/>
                </a:solidFill>
                <a:latin typeface="Inter"/>
                <a:ea typeface="Inter"/>
                <a:cs typeface="Inter"/>
                <a:sym typeface="Inter"/>
              </a:rPr>
              <a:t>PRESENTED BY</a:t>
            </a:r>
          </a:p>
        </p:txBody>
      </p:sp>
      <p:sp>
        <p:nvSpPr>
          <p:cNvPr name="TextBox 15" id="15"/>
          <p:cNvSpPr txBox="true"/>
          <p:nvPr/>
        </p:nvSpPr>
        <p:spPr>
          <a:xfrm rot="0">
            <a:off x="4133337" y="7630865"/>
            <a:ext cx="10021326" cy="327787"/>
          </a:xfrm>
          <a:prstGeom prst="rect">
            <a:avLst/>
          </a:prstGeom>
        </p:spPr>
        <p:txBody>
          <a:bodyPr anchor="t" rtlCol="false" tIns="0" lIns="0" bIns="0" rIns="0">
            <a:spAutoFit/>
          </a:bodyPr>
          <a:lstStyle/>
          <a:p>
            <a:pPr algn="ctr">
              <a:lnSpc>
                <a:spcPts val="2684"/>
              </a:lnSpc>
            </a:pPr>
            <a:r>
              <a:rPr lang="en-US" sz="2200">
                <a:solidFill>
                  <a:srgbClr val="000000"/>
                </a:solidFill>
                <a:latin typeface="Inter"/>
                <a:ea typeface="Inter"/>
                <a:cs typeface="Inter"/>
                <a:sym typeface="Inter"/>
              </a:rPr>
              <a:t>DATA INSIGHTS FOR STRATEGIC DECISION-MAKING</a:t>
            </a:r>
          </a:p>
        </p:txBody>
      </p:sp>
      <p:grpSp>
        <p:nvGrpSpPr>
          <p:cNvPr name="Group 16" id="16"/>
          <p:cNvGrpSpPr/>
          <p:nvPr/>
        </p:nvGrpSpPr>
        <p:grpSpPr>
          <a:xfrm rot="0">
            <a:off x="4094351" y="1768596"/>
            <a:ext cx="10099299" cy="7375390"/>
            <a:chOff x="0" y="0"/>
            <a:chExt cx="812800" cy="593578"/>
          </a:xfrm>
        </p:grpSpPr>
        <p:sp>
          <p:nvSpPr>
            <p:cNvPr name="Freeform 17" id="17"/>
            <p:cNvSpPr/>
            <p:nvPr/>
          </p:nvSpPr>
          <p:spPr>
            <a:xfrm flipH="false" flipV="false" rot="0">
              <a:off x="0" y="0"/>
              <a:ext cx="812800" cy="593578"/>
            </a:xfrm>
            <a:custGeom>
              <a:avLst/>
              <a:gdLst/>
              <a:ahLst/>
              <a:cxnLst/>
              <a:rect r="r" b="b" t="t" l="l"/>
              <a:pathLst>
                <a:path h="593578" w="812800">
                  <a:moveTo>
                    <a:pt x="406400" y="0"/>
                  </a:moveTo>
                  <a:cubicBezTo>
                    <a:pt x="181951" y="0"/>
                    <a:pt x="0" y="132877"/>
                    <a:pt x="0" y="296789"/>
                  </a:cubicBezTo>
                  <a:cubicBezTo>
                    <a:pt x="0" y="460701"/>
                    <a:pt x="181951" y="593578"/>
                    <a:pt x="406400" y="593578"/>
                  </a:cubicBezTo>
                  <a:cubicBezTo>
                    <a:pt x="630849" y="593578"/>
                    <a:pt x="812800" y="460701"/>
                    <a:pt x="812800" y="296789"/>
                  </a:cubicBezTo>
                  <a:cubicBezTo>
                    <a:pt x="812800" y="132877"/>
                    <a:pt x="630849" y="0"/>
                    <a:pt x="406400" y="0"/>
                  </a:cubicBezTo>
                  <a:close/>
                </a:path>
              </a:pathLst>
            </a:custGeom>
            <a:solidFill>
              <a:srgbClr val="7ED957">
                <a:alpha val="9804"/>
              </a:srgbClr>
            </a:solidFill>
          </p:spPr>
        </p:sp>
        <p:sp>
          <p:nvSpPr>
            <p:cNvPr name="TextBox 18" id="18"/>
            <p:cNvSpPr txBox="true"/>
            <p:nvPr/>
          </p:nvSpPr>
          <p:spPr>
            <a:xfrm>
              <a:off x="76200" y="-68177"/>
              <a:ext cx="660400" cy="606107"/>
            </a:xfrm>
            <a:prstGeom prst="rect">
              <a:avLst/>
            </a:prstGeom>
          </p:spPr>
          <p:txBody>
            <a:bodyPr anchor="ctr" rtlCol="false" tIns="50800" lIns="50800" bIns="50800" rIns="50800"/>
            <a:lstStyle/>
            <a:p>
              <a:pPr algn="ctr">
                <a:lnSpc>
                  <a:spcPts val="3749"/>
                </a:lnSpc>
              </a:pPr>
            </a:p>
          </p:txBody>
        </p:sp>
      </p:grpSp>
      <p:grpSp>
        <p:nvGrpSpPr>
          <p:cNvPr name="Group 19" id="19"/>
          <p:cNvGrpSpPr/>
          <p:nvPr/>
        </p:nvGrpSpPr>
        <p:grpSpPr>
          <a:xfrm rot="0">
            <a:off x="14450824" y="4691978"/>
            <a:ext cx="4563771" cy="903044"/>
            <a:chOff x="0" y="0"/>
            <a:chExt cx="1201981" cy="237839"/>
          </a:xfrm>
        </p:grpSpPr>
        <p:sp>
          <p:nvSpPr>
            <p:cNvPr name="Freeform 20" id="20"/>
            <p:cNvSpPr/>
            <p:nvPr/>
          </p:nvSpPr>
          <p:spPr>
            <a:xfrm flipH="false" flipV="false" rot="0">
              <a:off x="0" y="0"/>
              <a:ext cx="1201981" cy="237839"/>
            </a:xfrm>
            <a:custGeom>
              <a:avLst/>
              <a:gdLst/>
              <a:ahLst/>
              <a:cxnLst/>
              <a:rect r="r" b="b" t="t" l="l"/>
              <a:pathLst>
                <a:path h="237839" w="1201981">
                  <a:moveTo>
                    <a:pt x="0" y="0"/>
                  </a:moveTo>
                  <a:lnTo>
                    <a:pt x="1201981" y="0"/>
                  </a:lnTo>
                  <a:lnTo>
                    <a:pt x="1201981" y="237839"/>
                  </a:lnTo>
                  <a:lnTo>
                    <a:pt x="0" y="237839"/>
                  </a:lnTo>
                  <a:close/>
                </a:path>
              </a:pathLst>
            </a:custGeom>
            <a:solidFill>
              <a:srgbClr val="7ED957">
                <a:alpha val="9804"/>
              </a:srgbClr>
            </a:solidFill>
          </p:spPr>
        </p:sp>
        <p:sp>
          <p:nvSpPr>
            <p:cNvPr name="TextBox 21" id="21"/>
            <p:cNvSpPr txBox="true"/>
            <p:nvPr/>
          </p:nvSpPr>
          <p:spPr>
            <a:xfrm>
              <a:off x="0" y="-9525"/>
              <a:ext cx="1201981" cy="247364"/>
            </a:xfrm>
            <a:prstGeom prst="rect">
              <a:avLst/>
            </a:prstGeom>
          </p:spPr>
          <p:txBody>
            <a:bodyPr anchor="ctr" rtlCol="false" tIns="50800" lIns="50800" bIns="50800" rIns="50800"/>
            <a:lstStyle/>
            <a:p>
              <a:pPr algn="ctr">
                <a:lnSpc>
                  <a:spcPts val="2123"/>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9144000" y="4963996"/>
            <a:ext cx="0" cy="5550620"/>
          </a:xfrm>
          <a:prstGeom prst="line">
            <a:avLst/>
          </a:prstGeom>
          <a:ln cap="flat" w="38100">
            <a:solidFill>
              <a:srgbClr val="000000"/>
            </a:solidFill>
            <a:prstDash val="solid"/>
            <a:headEnd type="none" len="sm" w="sm"/>
            <a:tailEnd type="none" len="sm" w="sm"/>
          </a:ln>
        </p:spPr>
      </p:sp>
      <p:grpSp>
        <p:nvGrpSpPr>
          <p:cNvPr name="Group 3" id="3"/>
          <p:cNvGrpSpPr/>
          <p:nvPr/>
        </p:nvGrpSpPr>
        <p:grpSpPr>
          <a:xfrm rot="0">
            <a:off x="-316855" y="376930"/>
            <a:ext cx="18816092" cy="1264269"/>
            <a:chOff x="0" y="0"/>
            <a:chExt cx="4955678" cy="332976"/>
          </a:xfrm>
        </p:grpSpPr>
        <p:sp>
          <p:nvSpPr>
            <p:cNvPr name="Freeform 4" id="4"/>
            <p:cNvSpPr/>
            <p:nvPr/>
          </p:nvSpPr>
          <p:spPr>
            <a:xfrm flipH="false" flipV="false" rot="0">
              <a:off x="0" y="0"/>
              <a:ext cx="4955679" cy="332976"/>
            </a:xfrm>
            <a:custGeom>
              <a:avLst/>
              <a:gdLst/>
              <a:ahLst/>
              <a:cxnLst/>
              <a:rect r="r" b="b" t="t" l="l"/>
              <a:pathLst>
                <a:path h="332976" w="4955679">
                  <a:moveTo>
                    <a:pt x="0" y="0"/>
                  </a:moveTo>
                  <a:lnTo>
                    <a:pt x="4955679" y="0"/>
                  </a:lnTo>
                  <a:lnTo>
                    <a:pt x="4955679" y="332976"/>
                  </a:lnTo>
                  <a:lnTo>
                    <a:pt x="0" y="332976"/>
                  </a:lnTo>
                  <a:close/>
                </a:path>
              </a:pathLst>
            </a:custGeom>
            <a:solidFill>
              <a:srgbClr val="7ED957">
                <a:alpha val="9804"/>
              </a:srgbClr>
            </a:solidFill>
          </p:spPr>
        </p:sp>
        <p:sp>
          <p:nvSpPr>
            <p:cNvPr name="TextBox 5" id="5"/>
            <p:cNvSpPr txBox="true"/>
            <p:nvPr/>
          </p:nvSpPr>
          <p:spPr>
            <a:xfrm>
              <a:off x="0" y="-9525"/>
              <a:ext cx="4955678" cy="342501"/>
            </a:xfrm>
            <a:prstGeom prst="rect">
              <a:avLst/>
            </a:prstGeom>
          </p:spPr>
          <p:txBody>
            <a:bodyPr anchor="ctr" rtlCol="false" tIns="50800" lIns="50800" bIns="50800" rIns="50800"/>
            <a:lstStyle/>
            <a:p>
              <a:pPr algn="ctr">
                <a:lnSpc>
                  <a:spcPts val="2123"/>
                </a:lnSpc>
              </a:pPr>
            </a:p>
          </p:txBody>
        </p:sp>
      </p:grpSp>
      <p:sp>
        <p:nvSpPr>
          <p:cNvPr name="TextBox 6" id="6"/>
          <p:cNvSpPr txBox="true"/>
          <p:nvPr/>
        </p:nvSpPr>
        <p:spPr>
          <a:xfrm rot="0">
            <a:off x="0" y="610603"/>
            <a:ext cx="18288000" cy="777875"/>
          </a:xfrm>
          <a:prstGeom prst="rect">
            <a:avLst/>
          </a:prstGeom>
        </p:spPr>
        <p:txBody>
          <a:bodyPr anchor="t" rtlCol="false" tIns="0" lIns="0" bIns="0" rIns="0">
            <a:spAutoFit/>
          </a:bodyPr>
          <a:lstStyle/>
          <a:p>
            <a:pPr algn="ctr">
              <a:lnSpc>
                <a:spcPts val="6100"/>
              </a:lnSpc>
              <a:spcBef>
                <a:spcPct val="0"/>
              </a:spcBef>
            </a:pPr>
            <a:r>
              <a:rPr lang="en-US" sz="5000">
                <a:solidFill>
                  <a:srgbClr val="404040"/>
                </a:solidFill>
                <a:latin typeface="Inter"/>
                <a:ea typeface="Inter"/>
                <a:cs typeface="Inter"/>
                <a:sym typeface="Inter"/>
              </a:rPr>
              <a:t>PROJECT QUESTIONS AND OBJECTIVES</a:t>
            </a:r>
          </a:p>
        </p:txBody>
      </p:sp>
      <p:sp>
        <p:nvSpPr>
          <p:cNvPr name="TextBox 7" id="7"/>
          <p:cNvSpPr txBox="true"/>
          <p:nvPr/>
        </p:nvSpPr>
        <p:spPr>
          <a:xfrm rot="0">
            <a:off x="1028700" y="5551333"/>
            <a:ext cx="8115300" cy="2614549"/>
          </a:xfrm>
          <a:prstGeom prst="rect">
            <a:avLst/>
          </a:prstGeom>
        </p:spPr>
        <p:txBody>
          <a:bodyPr anchor="t" rtlCol="false" tIns="0" lIns="0" bIns="0" rIns="0">
            <a:spAutoFit/>
          </a:bodyPr>
          <a:lstStyle/>
          <a:p>
            <a:pPr algn="l">
              <a:lnSpc>
                <a:spcPts val="2318"/>
              </a:lnSpc>
            </a:pPr>
            <a:r>
              <a:rPr lang="en-US" sz="1900">
                <a:solidFill>
                  <a:srgbClr val="000000"/>
                </a:solidFill>
                <a:latin typeface="Futura"/>
                <a:ea typeface="Futura"/>
                <a:cs typeface="Futura"/>
                <a:sym typeface="Futura"/>
              </a:rPr>
              <a:t>WHICH COUNTRIES BRING THE HIGHEST REVENUE?</a:t>
            </a:r>
          </a:p>
          <a:p>
            <a:pPr algn="l">
              <a:lnSpc>
                <a:spcPts val="2318"/>
              </a:lnSpc>
            </a:pPr>
          </a:p>
          <a:p>
            <a:pPr algn="l">
              <a:lnSpc>
                <a:spcPts val="2318"/>
              </a:lnSpc>
            </a:pPr>
          </a:p>
          <a:p>
            <a:pPr algn="l">
              <a:lnSpc>
                <a:spcPts val="2318"/>
              </a:lnSpc>
            </a:pPr>
          </a:p>
          <a:p>
            <a:pPr algn="l">
              <a:lnSpc>
                <a:spcPts val="2318"/>
              </a:lnSpc>
            </a:pPr>
            <a:r>
              <a:rPr lang="en-US" sz="1900">
                <a:solidFill>
                  <a:srgbClr val="000000"/>
                </a:solidFill>
                <a:latin typeface="Futura"/>
                <a:ea typeface="Futura"/>
                <a:cs typeface="Futura"/>
                <a:sym typeface="Futura"/>
              </a:rPr>
              <a:t>WHERE CUSTOMERS SPEND HIGHEST ON AVERAGE?</a:t>
            </a:r>
          </a:p>
          <a:p>
            <a:pPr algn="l">
              <a:lnSpc>
                <a:spcPts val="2318"/>
              </a:lnSpc>
            </a:pPr>
          </a:p>
          <a:p>
            <a:pPr algn="l">
              <a:lnSpc>
                <a:spcPts val="2318"/>
              </a:lnSpc>
            </a:pPr>
          </a:p>
          <a:p>
            <a:pPr algn="l">
              <a:lnSpc>
                <a:spcPts val="2318"/>
              </a:lnSpc>
            </a:pPr>
          </a:p>
          <a:p>
            <a:pPr algn="l">
              <a:lnSpc>
                <a:spcPts val="2318"/>
              </a:lnSpc>
              <a:spcBef>
                <a:spcPct val="0"/>
              </a:spcBef>
            </a:pPr>
            <a:r>
              <a:rPr lang="en-US" sz="1900">
                <a:solidFill>
                  <a:srgbClr val="000000"/>
                </a:solidFill>
                <a:latin typeface="Futura"/>
                <a:ea typeface="Futura"/>
                <a:cs typeface="Futura"/>
                <a:sym typeface="Futura"/>
              </a:rPr>
              <a:t>WHAT GENRES AND RATING PERFORMS BETTER IN SALES?</a:t>
            </a:r>
          </a:p>
        </p:txBody>
      </p:sp>
      <p:sp>
        <p:nvSpPr>
          <p:cNvPr name="TextBox 8" id="8"/>
          <p:cNvSpPr txBox="true"/>
          <p:nvPr/>
        </p:nvSpPr>
        <p:spPr>
          <a:xfrm rot="0">
            <a:off x="5196288" y="2387627"/>
            <a:ext cx="7895424" cy="1765300"/>
          </a:xfrm>
          <a:prstGeom prst="rect">
            <a:avLst/>
          </a:prstGeom>
        </p:spPr>
        <p:txBody>
          <a:bodyPr anchor="t" rtlCol="false" tIns="0" lIns="0" bIns="0" rIns="0">
            <a:spAutoFit/>
          </a:bodyPr>
          <a:lstStyle/>
          <a:p>
            <a:pPr algn="ctr">
              <a:lnSpc>
                <a:spcPts val="3500"/>
              </a:lnSpc>
            </a:pPr>
            <a:r>
              <a:rPr lang="en-US" sz="2000">
                <a:solidFill>
                  <a:srgbClr val="000000"/>
                </a:solidFill>
                <a:latin typeface="Futura"/>
                <a:ea typeface="Futura"/>
                <a:cs typeface="Futura"/>
                <a:sym typeface="Futura"/>
              </a:rPr>
              <a:t>ROCKBUSTER IS FACING INCREASED COMPETITION FROM</a:t>
            </a:r>
          </a:p>
          <a:p>
            <a:pPr algn="ctr">
              <a:lnSpc>
                <a:spcPts val="3500"/>
              </a:lnSpc>
            </a:pPr>
            <a:r>
              <a:rPr lang="en-US" sz="2000">
                <a:solidFill>
                  <a:srgbClr val="000000"/>
                </a:solidFill>
                <a:latin typeface="Futura"/>
                <a:ea typeface="Futura"/>
                <a:cs typeface="Futura"/>
                <a:sym typeface="Futura"/>
              </a:rPr>
              <a:t>ONLINE MOVIE RENTAL COMPETITORS, WE REQUIRE NEW</a:t>
            </a:r>
          </a:p>
          <a:p>
            <a:pPr algn="ctr">
              <a:lnSpc>
                <a:spcPts val="3500"/>
              </a:lnSpc>
            </a:pPr>
            <a:r>
              <a:rPr lang="en-US" sz="2000">
                <a:solidFill>
                  <a:srgbClr val="000000"/>
                </a:solidFill>
                <a:latin typeface="Futura"/>
                <a:ea typeface="Futura"/>
                <a:cs typeface="Futura"/>
                <a:sym typeface="Futura"/>
              </a:rPr>
              <a:t>STRETEGIES AND PLANNING IN ORDER TO PERFORM</a:t>
            </a:r>
          </a:p>
          <a:p>
            <a:pPr algn="ctr">
              <a:lnSpc>
                <a:spcPts val="3500"/>
              </a:lnSpc>
            </a:pPr>
            <a:r>
              <a:rPr lang="en-US" sz="2000">
                <a:solidFill>
                  <a:srgbClr val="000000"/>
                </a:solidFill>
                <a:latin typeface="Futura"/>
                <a:ea typeface="Futura"/>
                <a:cs typeface="Futura"/>
                <a:sym typeface="Futura"/>
              </a:rPr>
              <a:t>BETTER AND STAY IN THE MARKET COMPETITEVELY.</a:t>
            </a:r>
          </a:p>
        </p:txBody>
      </p:sp>
      <p:sp>
        <p:nvSpPr>
          <p:cNvPr name="TextBox 9" id="9"/>
          <p:cNvSpPr txBox="true"/>
          <p:nvPr/>
        </p:nvSpPr>
        <p:spPr>
          <a:xfrm rot="0">
            <a:off x="9363876" y="5551333"/>
            <a:ext cx="7895424" cy="2614549"/>
          </a:xfrm>
          <a:prstGeom prst="rect">
            <a:avLst/>
          </a:prstGeom>
        </p:spPr>
        <p:txBody>
          <a:bodyPr anchor="t" rtlCol="false" tIns="0" lIns="0" bIns="0" rIns="0">
            <a:spAutoFit/>
          </a:bodyPr>
          <a:lstStyle/>
          <a:p>
            <a:pPr algn="r">
              <a:lnSpc>
                <a:spcPts val="2318"/>
              </a:lnSpc>
            </a:pPr>
            <a:r>
              <a:rPr lang="en-US" sz="1900">
                <a:solidFill>
                  <a:srgbClr val="000000"/>
                </a:solidFill>
                <a:latin typeface="Futura"/>
                <a:ea typeface="Futura"/>
                <a:cs typeface="Futura"/>
                <a:sym typeface="Futura"/>
              </a:rPr>
              <a:t>IDENTIFY TOP REVENUE-GENERATING COUNTRIES</a:t>
            </a:r>
          </a:p>
          <a:p>
            <a:pPr algn="r">
              <a:lnSpc>
                <a:spcPts val="2318"/>
              </a:lnSpc>
            </a:pPr>
          </a:p>
          <a:p>
            <a:pPr algn="r">
              <a:lnSpc>
                <a:spcPts val="2318"/>
              </a:lnSpc>
            </a:pPr>
          </a:p>
          <a:p>
            <a:pPr algn="r">
              <a:lnSpc>
                <a:spcPts val="2318"/>
              </a:lnSpc>
            </a:pPr>
          </a:p>
          <a:p>
            <a:pPr algn="r">
              <a:lnSpc>
                <a:spcPts val="2318"/>
              </a:lnSpc>
            </a:pPr>
            <a:r>
              <a:rPr lang="en-US" sz="1900">
                <a:solidFill>
                  <a:srgbClr val="000000"/>
                </a:solidFill>
                <a:latin typeface="Futura"/>
                <a:ea typeface="Futura"/>
                <a:cs typeface="Futura"/>
                <a:sym typeface="Futura"/>
              </a:rPr>
              <a:t>IDENTIFY HIGHEST REVENUE-GENERATING CUSTOMERS</a:t>
            </a:r>
          </a:p>
          <a:p>
            <a:pPr algn="r">
              <a:lnSpc>
                <a:spcPts val="2318"/>
              </a:lnSpc>
            </a:pPr>
          </a:p>
          <a:p>
            <a:pPr algn="r">
              <a:lnSpc>
                <a:spcPts val="2318"/>
              </a:lnSpc>
            </a:pPr>
          </a:p>
          <a:p>
            <a:pPr algn="r">
              <a:lnSpc>
                <a:spcPts val="2318"/>
              </a:lnSpc>
            </a:pPr>
          </a:p>
          <a:p>
            <a:pPr algn="r">
              <a:lnSpc>
                <a:spcPts val="2318"/>
              </a:lnSpc>
            </a:pPr>
            <a:r>
              <a:rPr lang="en-US" sz="1900">
                <a:solidFill>
                  <a:srgbClr val="000000"/>
                </a:solidFill>
                <a:latin typeface="Futura"/>
                <a:ea typeface="Futura"/>
                <a:cs typeface="Futura"/>
                <a:sym typeface="Futura"/>
              </a:rPr>
              <a:t>COMPARE PERFORMANCE ACROSS GENRES AND RATINGS</a:t>
            </a:r>
          </a:p>
        </p:txBody>
      </p:sp>
      <p:sp>
        <p:nvSpPr>
          <p:cNvPr name="Freeform 10" id="10"/>
          <p:cNvSpPr/>
          <p:nvPr/>
        </p:nvSpPr>
        <p:spPr>
          <a:xfrm flipH="false" flipV="false" rot="2700000">
            <a:off x="16241906" y="193253"/>
            <a:ext cx="2290517" cy="2178854"/>
          </a:xfrm>
          <a:custGeom>
            <a:avLst/>
            <a:gdLst/>
            <a:ahLst/>
            <a:cxnLst/>
            <a:rect r="r" b="b" t="t" l="l"/>
            <a:pathLst>
              <a:path h="2178854" w="2290517">
                <a:moveTo>
                  <a:pt x="0" y="0"/>
                </a:moveTo>
                <a:lnTo>
                  <a:pt x="2290517" y="0"/>
                </a:lnTo>
                <a:lnTo>
                  <a:pt x="2290517" y="2178855"/>
                </a:lnTo>
                <a:lnTo>
                  <a:pt x="0" y="217885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6855" y="410503"/>
            <a:ext cx="18906622" cy="903044"/>
            <a:chOff x="0" y="0"/>
            <a:chExt cx="4979522" cy="237839"/>
          </a:xfrm>
        </p:grpSpPr>
        <p:sp>
          <p:nvSpPr>
            <p:cNvPr name="Freeform 3" id="3"/>
            <p:cNvSpPr/>
            <p:nvPr/>
          </p:nvSpPr>
          <p:spPr>
            <a:xfrm flipH="false" flipV="false" rot="0">
              <a:off x="0" y="0"/>
              <a:ext cx="4979522" cy="237839"/>
            </a:xfrm>
            <a:custGeom>
              <a:avLst/>
              <a:gdLst/>
              <a:ahLst/>
              <a:cxnLst/>
              <a:rect r="r" b="b" t="t" l="l"/>
              <a:pathLst>
                <a:path h="237839" w="4979522">
                  <a:moveTo>
                    <a:pt x="0" y="0"/>
                  </a:moveTo>
                  <a:lnTo>
                    <a:pt x="4979522" y="0"/>
                  </a:lnTo>
                  <a:lnTo>
                    <a:pt x="4979522" y="237839"/>
                  </a:lnTo>
                  <a:lnTo>
                    <a:pt x="0" y="237839"/>
                  </a:lnTo>
                  <a:close/>
                </a:path>
              </a:pathLst>
            </a:custGeom>
            <a:solidFill>
              <a:srgbClr val="7ED957">
                <a:alpha val="9804"/>
              </a:srgbClr>
            </a:solidFill>
          </p:spPr>
        </p:sp>
        <p:sp>
          <p:nvSpPr>
            <p:cNvPr name="TextBox 4" id="4"/>
            <p:cNvSpPr txBox="true"/>
            <p:nvPr/>
          </p:nvSpPr>
          <p:spPr>
            <a:xfrm>
              <a:off x="0" y="-9525"/>
              <a:ext cx="4979522" cy="247364"/>
            </a:xfrm>
            <a:prstGeom prst="rect">
              <a:avLst/>
            </a:prstGeom>
          </p:spPr>
          <p:txBody>
            <a:bodyPr anchor="ctr" rtlCol="false" tIns="50800" lIns="50800" bIns="50800" rIns="50800"/>
            <a:lstStyle/>
            <a:p>
              <a:pPr algn="ctr">
                <a:lnSpc>
                  <a:spcPts val="2123"/>
                </a:lnSpc>
              </a:pPr>
            </a:p>
          </p:txBody>
        </p:sp>
      </p:grpSp>
      <p:sp>
        <p:nvSpPr>
          <p:cNvPr name="TextBox 5" id="5"/>
          <p:cNvSpPr txBox="true"/>
          <p:nvPr/>
        </p:nvSpPr>
        <p:spPr>
          <a:xfrm rot="0">
            <a:off x="0" y="510553"/>
            <a:ext cx="18288000" cy="693420"/>
          </a:xfrm>
          <a:prstGeom prst="rect">
            <a:avLst/>
          </a:prstGeom>
        </p:spPr>
        <p:txBody>
          <a:bodyPr anchor="t" rtlCol="false" tIns="0" lIns="0" bIns="0" rIns="0">
            <a:spAutoFit/>
          </a:bodyPr>
          <a:lstStyle/>
          <a:p>
            <a:pPr algn="ctr">
              <a:lnSpc>
                <a:spcPts val="5489"/>
              </a:lnSpc>
              <a:spcBef>
                <a:spcPct val="0"/>
              </a:spcBef>
            </a:pPr>
            <a:r>
              <a:rPr lang="en-US" sz="4499">
                <a:solidFill>
                  <a:srgbClr val="404040"/>
                </a:solidFill>
                <a:latin typeface="Inter"/>
                <a:ea typeface="Inter"/>
                <a:cs typeface="Inter"/>
                <a:sym typeface="Inter"/>
              </a:rPr>
              <a:t>MOVIE RENTALS STATISTICS</a:t>
            </a:r>
          </a:p>
        </p:txBody>
      </p:sp>
      <p:sp>
        <p:nvSpPr>
          <p:cNvPr name="AutoShape 6" id="6"/>
          <p:cNvSpPr/>
          <p:nvPr/>
        </p:nvSpPr>
        <p:spPr>
          <a:xfrm flipV="true">
            <a:off x="7447813" y="2034786"/>
            <a:ext cx="0" cy="8252214"/>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1028700" y="2138577"/>
            <a:ext cx="7896225" cy="495300"/>
          </a:xfrm>
          <a:prstGeom prst="rect">
            <a:avLst/>
          </a:prstGeom>
        </p:spPr>
        <p:txBody>
          <a:bodyPr anchor="t" rtlCol="false" tIns="0" lIns="0" bIns="0" rIns="0">
            <a:spAutoFit/>
          </a:bodyPr>
          <a:lstStyle/>
          <a:p>
            <a:pPr algn="l">
              <a:lnSpc>
                <a:spcPts val="3749"/>
              </a:lnSpc>
            </a:pPr>
            <a:r>
              <a:rPr lang="en-US" b="true" sz="2499" spc="249">
                <a:solidFill>
                  <a:srgbClr val="000000"/>
                </a:solidFill>
                <a:latin typeface="Futura Bold"/>
                <a:ea typeface="Futura Bold"/>
                <a:cs typeface="Futura Bold"/>
                <a:sym typeface="Futura Bold"/>
              </a:rPr>
              <a:t>RENTAL RATES</a:t>
            </a:r>
          </a:p>
        </p:txBody>
      </p:sp>
      <p:sp>
        <p:nvSpPr>
          <p:cNvPr name="TextBox 8" id="8"/>
          <p:cNvSpPr txBox="true"/>
          <p:nvPr/>
        </p:nvSpPr>
        <p:spPr>
          <a:xfrm rot="0">
            <a:off x="9363075" y="2490330"/>
            <a:ext cx="7895424" cy="1708912"/>
          </a:xfrm>
          <a:prstGeom prst="rect">
            <a:avLst/>
          </a:prstGeom>
        </p:spPr>
        <p:txBody>
          <a:bodyPr anchor="t" rtlCol="false" tIns="0" lIns="0" bIns="0" rIns="0">
            <a:spAutoFit/>
          </a:bodyPr>
          <a:lstStyle/>
          <a:p>
            <a:pPr algn="r">
              <a:lnSpc>
                <a:spcPts val="2683"/>
              </a:lnSpc>
            </a:pPr>
            <a:r>
              <a:rPr lang="en-US" sz="2199">
                <a:solidFill>
                  <a:srgbClr val="000000"/>
                </a:solidFill>
                <a:latin typeface="Futura"/>
                <a:ea typeface="Futura"/>
                <a:cs typeface="Futura"/>
                <a:sym typeface="Futura"/>
              </a:rPr>
              <a:t>The average rental rate is around $2.98, with prices ranging from $0.99 to $4.99. This shows Rockbuster maintains affordable pricing while still allowing for some variation.</a:t>
            </a:r>
          </a:p>
          <a:p>
            <a:pPr algn="r">
              <a:lnSpc>
                <a:spcPts val="2683"/>
              </a:lnSpc>
            </a:pPr>
            <a:r>
              <a:rPr lang="en-US" sz="2199">
                <a:solidFill>
                  <a:srgbClr val="000000"/>
                </a:solidFill>
                <a:latin typeface="Futura"/>
                <a:ea typeface="Futura"/>
                <a:cs typeface="Futura"/>
                <a:sym typeface="Futura"/>
              </a:rPr>
              <a:t>The wide range suggests flexibility in tailoring prices for</a:t>
            </a:r>
          </a:p>
          <a:p>
            <a:pPr algn="r">
              <a:lnSpc>
                <a:spcPts val="2683"/>
              </a:lnSpc>
            </a:pPr>
            <a:r>
              <a:rPr lang="en-US" sz="2199">
                <a:solidFill>
                  <a:srgbClr val="000000"/>
                </a:solidFill>
                <a:latin typeface="Futura"/>
                <a:ea typeface="Futura"/>
                <a:cs typeface="Futura"/>
                <a:sym typeface="Futura"/>
              </a:rPr>
              <a:t>different types of films or customer segments.</a:t>
            </a:r>
          </a:p>
        </p:txBody>
      </p:sp>
      <p:sp>
        <p:nvSpPr>
          <p:cNvPr name="TextBox 9" id="9"/>
          <p:cNvSpPr txBox="true"/>
          <p:nvPr/>
        </p:nvSpPr>
        <p:spPr>
          <a:xfrm rot="0">
            <a:off x="1310597" y="2766795"/>
            <a:ext cx="4817959" cy="1428750"/>
          </a:xfrm>
          <a:prstGeom prst="rect">
            <a:avLst/>
          </a:prstGeom>
        </p:spPr>
        <p:txBody>
          <a:bodyPr anchor="t" rtlCol="false" tIns="0" lIns="0" bIns="0" rIns="0">
            <a:spAutoFit/>
          </a:bodyPr>
          <a:lstStyle/>
          <a:p>
            <a:pPr algn="l">
              <a:lnSpc>
                <a:spcPts val="3749"/>
              </a:lnSpc>
            </a:pPr>
            <a:r>
              <a:rPr lang="en-US" sz="2499" spc="249">
                <a:solidFill>
                  <a:srgbClr val="000000"/>
                </a:solidFill>
                <a:latin typeface="Futura"/>
                <a:ea typeface="Futura"/>
                <a:cs typeface="Futura"/>
                <a:sym typeface="Futura"/>
              </a:rPr>
              <a:t>MINIMUM</a:t>
            </a:r>
          </a:p>
          <a:p>
            <a:pPr algn="l">
              <a:lnSpc>
                <a:spcPts val="3749"/>
              </a:lnSpc>
            </a:pPr>
            <a:r>
              <a:rPr lang="en-US" sz="2499" spc="249">
                <a:solidFill>
                  <a:srgbClr val="000000"/>
                </a:solidFill>
                <a:latin typeface="Futura"/>
                <a:ea typeface="Futura"/>
                <a:cs typeface="Futura"/>
                <a:sym typeface="Futura"/>
              </a:rPr>
              <a:t>MAXIMUM</a:t>
            </a:r>
          </a:p>
          <a:p>
            <a:pPr algn="l">
              <a:lnSpc>
                <a:spcPts val="3749"/>
              </a:lnSpc>
            </a:pPr>
            <a:r>
              <a:rPr lang="en-US" sz="2499" spc="249">
                <a:solidFill>
                  <a:srgbClr val="000000"/>
                </a:solidFill>
                <a:latin typeface="Futura"/>
                <a:ea typeface="Futura"/>
                <a:cs typeface="Futura"/>
                <a:sym typeface="Futura"/>
              </a:rPr>
              <a:t>AVERAGE</a:t>
            </a:r>
          </a:p>
        </p:txBody>
      </p:sp>
      <p:sp>
        <p:nvSpPr>
          <p:cNvPr name="TextBox 10" id="10"/>
          <p:cNvSpPr txBox="true"/>
          <p:nvPr/>
        </p:nvSpPr>
        <p:spPr>
          <a:xfrm rot="0">
            <a:off x="3401057" y="2770491"/>
            <a:ext cx="1221414" cy="1428750"/>
          </a:xfrm>
          <a:prstGeom prst="rect">
            <a:avLst/>
          </a:prstGeom>
        </p:spPr>
        <p:txBody>
          <a:bodyPr anchor="t" rtlCol="false" tIns="0" lIns="0" bIns="0" rIns="0">
            <a:spAutoFit/>
          </a:bodyPr>
          <a:lstStyle/>
          <a:p>
            <a:pPr algn="l">
              <a:lnSpc>
                <a:spcPts val="3749"/>
              </a:lnSpc>
            </a:pPr>
            <a:r>
              <a:rPr lang="en-US" sz="2499" spc="249">
                <a:solidFill>
                  <a:srgbClr val="000000"/>
                </a:solidFill>
                <a:latin typeface="Futura"/>
                <a:ea typeface="Futura"/>
                <a:cs typeface="Futura"/>
                <a:sym typeface="Futura"/>
              </a:rPr>
              <a:t>→</a:t>
            </a:r>
          </a:p>
          <a:p>
            <a:pPr algn="l">
              <a:lnSpc>
                <a:spcPts val="3749"/>
              </a:lnSpc>
            </a:pPr>
            <a:r>
              <a:rPr lang="en-US" sz="2499" spc="249">
                <a:solidFill>
                  <a:srgbClr val="000000"/>
                </a:solidFill>
                <a:latin typeface="Futura"/>
                <a:ea typeface="Futura"/>
                <a:cs typeface="Futura"/>
                <a:sym typeface="Futura"/>
              </a:rPr>
              <a:t>→</a:t>
            </a:r>
          </a:p>
          <a:p>
            <a:pPr algn="l">
              <a:lnSpc>
                <a:spcPts val="3749"/>
              </a:lnSpc>
            </a:pPr>
            <a:r>
              <a:rPr lang="en-US" sz="2499" spc="249">
                <a:solidFill>
                  <a:srgbClr val="000000"/>
                </a:solidFill>
                <a:latin typeface="Futura"/>
                <a:ea typeface="Futura"/>
                <a:cs typeface="Futura"/>
                <a:sym typeface="Futura"/>
              </a:rPr>
              <a:t>→</a:t>
            </a:r>
          </a:p>
        </p:txBody>
      </p:sp>
      <p:sp>
        <p:nvSpPr>
          <p:cNvPr name="TextBox 11" id="11"/>
          <p:cNvSpPr txBox="true"/>
          <p:nvPr/>
        </p:nvSpPr>
        <p:spPr>
          <a:xfrm rot="0">
            <a:off x="3578227" y="2745331"/>
            <a:ext cx="1629756" cy="1428750"/>
          </a:xfrm>
          <a:prstGeom prst="rect">
            <a:avLst/>
          </a:prstGeom>
        </p:spPr>
        <p:txBody>
          <a:bodyPr anchor="t" rtlCol="false" tIns="0" lIns="0" bIns="0" rIns="0">
            <a:spAutoFit/>
          </a:bodyPr>
          <a:lstStyle/>
          <a:p>
            <a:pPr algn="r">
              <a:lnSpc>
                <a:spcPts val="3749"/>
              </a:lnSpc>
            </a:pPr>
            <a:r>
              <a:rPr lang="en-US" sz="2499" spc="249">
                <a:solidFill>
                  <a:srgbClr val="000000"/>
                </a:solidFill>
                <a:latin typeface="Futura"/>
                <a:ea typeface="Futura"/>
                <a:cs typeface="Futura"/>
                <a:sym typeface="Futura"/>
              </a:rPr>
              <a:t>0.99</a:t>
            </a:r>
          </a:p>
          <a:p>
            <a:pPr algn="r">
              <a:lnSpc>
                <a:spcPts val="3749"/>
              </a:lnSpc>
            </a:pPr>
            <a:r>
              <a:rPr lang="en-US" sz="2499" spc="249">
                <a:solidFill>
                  <a:srgbClr val="000000"/>
                </a:solidFill>
                <a:latin typeface="Futura"/>
                <a:ea typeface="Futura"/>
                <a:cs typeface="Futura"/>
                <a:sym typeface="Futura"/>
              </a:rPr>
              <a:t>0.49</a:t>
            </a:r>
          </a:p>
          <a:p>
            <a:pPr algn="r">
              <a:lnSpc>
                <a:spcPts val="3749"/>
              </a:lnSpc>
            </a:pPr>
            <a:r>
              <a:rPr lang="en-US" sz="2499" spc="249">
                <a:solidFill>
                  <a:srgbClr val="000000"/>
                </a:solidFill>
                <a:latin typeface="Futura"/>
                <a:ea typeface="Futura"/>
                <a:cs typeface="Futura"/>
                <a:sym typeface="Futura"/>
              </a:rPr>
              <a:t>2.98</a:t>
            </a:r>
          </a:p>
        </p:txBody>
      </p:sp>
      <p:sp>
        <p:nvSpPr>
          <p:cNvPr name="TextBox 12" id="12"/>
          <p:cNvSpPr txBox="true"/>
          <p:nvPr/>
        </p:nvSpPr>
        <p:spPr>
          <a:xfrm rot="0">
            <a:off x="1028700" y="4885042"/>
            <a:ext cx="7896225" cy="495300"/>
          </a:xfrm>
          <a:prstGeom prst="rect">
            <a:avLst/>
          </a:prstGeom>
        </p:spPr>
        <p:txBody>
          <a:bodyPr anchor="t" rtlCol="false" tIns="0" lIns="0" bIns="0" rIns="0">
            <a:spAutoFit/>
          </a:bodyPr>
          <a:lstStyle/>
          <a:p>
            <a:pPr algn="l">
              <a:lnSpc>
                <a:spcPts val="3749"/>
              </a:lnSpc>
            </a:pPr>
            <a:r>
              <a:rPr lang="en-US" b="true" sz="2499" spc="249">
                <a:solidFill>
                  <a:srgbClr val="000000"/>
                </a:solidFill>
                <a:latin typeface="Futura Bold"/>
                <a:ea typeface="Futura Bold"/>
                <a:cs typeface="Futura Bold"/>
                <a:sym typeface="Futura Bold"/>
              </a:rPr>
              <a:t>RENTAL DURATION</a:t>
            </a:r>
          </a:p>
        </p:txBody>
      </p:sp>
      <p:sp>
        <p:nvSpPr>
          <p:cNvPr name="TextBox 13" id="13"/>
          <p:cNvSpPr txBox="true"/>
          <p:nvPr/>
        </p:nvSpPr>
        <p:spPr>
          <a:xfrm rot="0">
            <a:off x="1310597" y="5513259"/>
            <a:ext cx="4817959" cy="1428750"/>
          </a:xfrm>
          <a:prstGeom prst="rect">
            <a:avLst/>
          </a:prstGeom>
        </p:spPr>
        <p:txBody>
          <a:bodyPr anchor="t" rtlCol="false" tIns="0" lIns="0" bIns="0" rIns="0">
            <a:spAutoFit/>
          </a:bodyPr>
          <a:lstStyle/>
          <a:p>
            <a:pPr algn="l">
              <a:lnSpc>
                <a:spcPts val="3749"/>
              </a:lnSpc>
            </a:pPr>
            <a:r>
              <a:rPr lang="en-US" sz="2499" spc="249">
                <a:solidFill>
                  <a:srgbClr val="000000"/>
                </a:solidFill>
                <a:latin typeface="Futura"/>
                <a:ea typeface="Futura"/>
                <a:cs typeface="Futura"/>
                <a:sym typeface="Futura"/>
              </a:rPr>
              <a:t>MINIMUM</a:t>
            </a:r>
          </a:p>
          <a:p>
            <a:pPr algn="l">
              <a:lnSpc>
                <a:spcPts val="3749"/>
              </a:lnSpc>
            </a:pPr>
            <a:r>
              <a:rPr lang="en-US" sz="2499" spc="249">
                <a:solidFill>
                  <a:srgbClr val="000000"/>
                </a:solidFill>
                <a:latin typeface="Futura"/>
                <a:ea typeface="Futura"/>
                <a:cs typeface="Futura"/>
                <a:sym typeface="Futura"/>
              </a:rPr>
              <a:t>MAXIMUM</a:t>
            </a:r>
          </a:p>
          <a:p>
            <a:pPr algn="l">
              <a:lnSpc>
                <a:spcPts val="3749"/>
              </a:lnSpc>
            </a:pPr>
            <a:r>
              <a:rPr lang="en-US" sz="2499" spc="249">
                <a:solidFill>
                  <a:srgbClr val="000000"/>
                </a:solidFill>
                <a:latin typeface="Futura"/>
                <a:ea typeface="Futura"/>
                <a:cs typeface="Futura"/>
                <a:sym typeface="Futura"/>
              </a:rPr>
              <a:t>AVERAGE</a:t>
            </a:r>
          </a:p>
        </p:txBody>
      </p:sp>
      <p:sp>
        <p:nvSpPr>
          <p:cNvPr name="TextBox 14" id="14"/>
          <p:cNvSpPr txBox="true"/>
          <p:nvPr/>
        </p:nvSpPr>
        <p:spPr>
          <a:xfrm rot="0">
            <a:off x="3401057" y="5516956"/>
            <a:ext cx="1221414" cy="1428750"/>
          </a:xfrm>
          <a:prstGeom prst="rect">
            <a:avLst/>
          </a:prstGeom>
        </p:spPr>
        <p:txBody>
          <a:bodyPr anchor="t" rtlCol="false" tIns="0" lIns="0" bIns="0" rIns="0">
            <a:spAutoFit/>
          </a:bodyPr>
          <a:lstStyle/>
          <a:p>
            <a:pPr algn="l">
              <a:lnSpc>
                <a:spcPts val="3749"/>
              </a:lnSpc>
            </a:pPr>
            <a:r>
              <a:rPr lang="en-US" sz="2499" spc="249">
                <a:solidFill>
                  <a:srgbClr val="000000"/>
                </a:solidFill>
                <a:latin typeface="Futura"/>
                <a:ea typeface="Futura"/>
                <a:cs typeface="Futura"/>
                <a:sym typeface="Futura"/>
              </a:rPr>
              <a:t>→</a:t>
            </a:r>
          </a:p>
          <a:p>
            <a:pPr algn="l">
              <a:lnSpc>
                <a:spcPts val="3749"/>
              </a:lnSpc>
            </a:pPr>
            <a:r>
              <a:rPr lang="en-US" sz="2499" spc="249">
                <a:solidFill>
                  <a:srgbClr val="000000"/>
                </a:solidFill>
                <a:latin typeface="Futura"/>
                <a:ea typeface="Futura"/>
                <a:cs typeface="Futura"/>
                <a:sym typeface="Futura"/>
              </a:rPr>
              <a:t>→</a:t>
            </a:r>
          </a:p>
          <a:p>
            <a:pPr algn="l">
              <a:lnSpc>
                <a:spcPts val="3749"/>
              </a:lnSpc>
            </a:pPr>
            <a:r>
              <a:rPr lang="en-US" sz="2499" spc="249">
                <a:solidFill>
                  <a:srgbClr val="000000"/>
                </a:solidFill>
                <a:latin typeface="Futura"/>
                <a:ea typeface="Futura"/>
                <a:cs typeface="Futura"/>
                <a:sym typeface="Futura"/>
              </a:rPr>
              <a:t>→</a:t>
            </a:r>
          </a:p>
        </p:txBody>
      </p:sp>
      <p:sp>
        <p:nvSpPr>
          <p:cNvPr name="TextBox 15" id="15"/>
          <p:cNvSpPr txBox="true"/>
          <p:nvPr/>
        </p:nvSpPr>
        <p:spPr>
          <a:xfrm rot="0">
            <a:off x="3578227" y="5516956"/>
            <a:ext cx="1629756" cy="1428750"/>
          </a:xfrm>
          <a:prstGeom prst="rect">
            <a:avLst/>
          </a:prstGeom>
        </p:spPr>
        <p:txBody>
          <a:bodyPr anchor="t" rtlCol="false" tIns="0" lIns="0" bIns="0" rIns="0">
            <a:spAutoFit/>
          </a:bodyPr>
          <a:lstStyle/>
          <a:p>
            <a:pPr algn="r">
              <a:lnSpc>
                <a:spcPts val="3749"/>
              </a:lnSpc>
            </a:pPr>
            <a:r>
              <a:rPr lang="en-US" sz="2499" spc="249">
                <a:solidFill>
                  <a:srgbClr val="000000"/>
                </a:solidFill>
                <a:latin typeface="Futura"/>
                <a:ea typeface="Futura"/>
                <a:cs typeface="Futura"/>
                <a:sym typeface="Futura"/>
              </a:rPr>
              <a:t>3</a:t>
            </a:r>
          </a:p>
          <a:p>
            <a:pPr algn="r">
              <a:lnSpc>
                <a:spcPts val="3749"/>
              </a:lnSpc>
            </a:pPr>
            <a:r>
              <a:rPr lang="en-US" sz="2499" spc="249">
                <a:solidFill>
                  <a:srgbClr val="000000"/>
                </a:solidFill>
                <a:latin typeface="Futura"/>
                <a:ea typeface="Futura"/>
                <a:cs typeface="Futura"/>
                <a:sym typeface="Futura"/>
              </a:rPr>
              <a:t>7</a:t>
            </a:r>
          </a:p>
          <a:p>
            <a:pPr algn="r">
              <a:lnSpc>
                <a:spcPts val="3749"/>
              </a:lnSpc>
            </a:pPr>
            <a:r>
              <a:rPr lang="en-US" sz="2499" spc="249">
                <a:solidFill>
                  <a:srgbClr val="000000"/>
                </a:solidFill>
                <a:latin typeface="Futura"/>
                <a:ea typeface="Futura"/>
                <a:cs typeface="Futura"/>
                <a:sym typeface="Futura"/>
              </a:rPr>
              <a:t>5</a:t>
            </a:r>
          </a:p>
        </p:txBody>
      </p:sp>
      <p:sp>
        <p:nvSpPr>
          <p:cNvPr name="TextBox 16" id="16"/>
          <p:cNvSpPr txBox="true"/>
          <p:nvPr/>
        </p:nvSpPr>
        <p:spPr>
          <a:xfrm rot="0">
            <a:off x="1028700" y="7631506"/>
            <a:ext cx="7896225" cy="495300"/>
          </a:xfrm>
          <a:prstGeom prst="rect">
            <a:avLst/>
          </a:prstGeom>
        </p:spPr>
        <p:txBody>
          <a:bodyPr anchor="t" rtlCol="false" tIns="0" lIns="0" bIns="0" rIns="0">
            <a:spAutoFit/>
          </a:bodyPr>
          <a:lstStyle/>
          <a:p>
            <a:pPr algn="l">
              <a:lnSpc>
                <a:spcPts val="3749"/>
              </a:lnSpc>
            </a:pPr>
            <a:r>
              <a:rPr lang="en-US" b="true" sz="2499" spc="249">
                <a:solidFill>
                  <a:srgbClr val="000000"/>
                </a:solidFill>
                <a:latin typeface="Futura Bold"/>
                <a:ea typeface="Futura Bold"/>
                <a:cs typeface="Futura Bold"/>
                <a:sym typeface="Futura Bold"/>
              </a:rPr>
              <a:t>REPLACEMENT COST</a:t>
            </a:r>
          </a:p>
        </p:txBody>
      </p:sp>
      <p:sp>
        <p:nvSpPr>
          <p:cNvPr name="TextBox 17" id="17"/>
          <p:cNvSpPr txBox="true"/>
          <p:nvPr/>
        </p:nvSpPr>
        <p:spPr>
          <a:xfrm rot="0">
            <a:off x="1310597" y="8263421"/>
            <a:ext cx="4817959" cy="1428750"/>
          </a:xfrm>
          <a:prstGeom prst="rect">
            <a:avLst/>
          </a:prstGeom>
        </p:spPr>
        <p:txBody>
          <a:bodyPr anchor="t" rtlCol="false" tIns="0" lIns="0" bIns="0" rIns="0">
            <a:spAutoFit/>
          </a:bodyPr>
          <a:lstStyle/>
          <a:p>
            <a:pPr algn="l">
              <a:lnSpc>
                <a:spcPts val="3749"/>
              </a:lnSpc>
            </a:pPr>
            <a:r>
              <a:rPr lang="en-US" sz="2499" spc="249">
                <a:solidFill>
                  <a:srgbClr val="000000"/>
                </a:solidFill>
                <a:latin typeface="Futura"/>
                <a:ea typeface="Futura"/>
                <a:cs typeface="Futura"/>
                <a:sym typeface="Futura"/>
              </a:rPr>
              <a:t>MINIMUM</a:t>
            </a:r>
          </a:p>
          <a:p>
            <a:pPr algn="l">
              <a:lnSpc>
                <a:spcPts val="3749"/>
              </a:lnSpc>
            </a:pPr>
            <a:r>
              <a:rPr lang="en-US" sz="2499" spc="249">
                <a:solidFill>
                  <a:srgbClr val="000000"/>
                </a:solidFill>
                <a:latin typeface="Futura"/>
                <a:ea typeface="Futura"/>
                <a:cs typeface="Futura"/>
                <a:sym typeface="Futura"/>
              </a:rPr>
              <a:t>MAXIMUM</a:t>
            </a:r>
          </a:p>
          <a:p>
            <a:pPr algn="l">
              <a:lnSpc>
                <a:spcPts val="3749"/>
              </a:lnSpc>
            </a:pPr>
            <a:r>
              <a:rPr lang="en-US" sz="2499" spc="249">
                <a:solidFill>
                  <a:srgbClr val="000000"/>
                </a:solidFill>
                <a:latin typeface="Futura"/>
                <a:ea typeface="Futura"/>
                <a:cs typeface="Futura"/>
                <a:sym typeface="Futura"/>
              </a:rPr>
              <a:t>AVERAGE</a:t>
            </a:r>
          </a:p>
        </p:txBody>
      </p:sp>
      <p:sp>
        <p:nvSpPr>
          <p:cNvPr name="TextBox 18" id="18"/>
          <p:cNvSpPr txBox="true"/>
          <p:nvPr/>
        </p:nvSpPr>
        <p:spPr>
          <a:xfrm rot="0">
            <a:off x="3401057" y="8263421"/>
            <a:ext cx="1221414" cy="1428750"/>
          </a:xfrm>
          <a:prstGeom prst="rect">
            <a:avLst/>
          </a:prstGeom>
        </p:spPr>
        <p:txBody>
          <a:bodyPr anchor="t" rtlCol="false" tIns="0" lIns="0" bIns="0" rIns="0">
            <a:spAutoFit/>
          </a:bodyPr>
          <a:lstStyle/>
          <a:p>
            <a:pPr algn="l">
              <a:lnSpc>
                <a:spcPts val="3749"/>
              </a:lnSpc>
            </a:pPr>
            <a:r>
              <a:rPr lang="en-US" sz="2499" spc="249">
                <a:solidFill>
                  <a:srgbClr val="000000"/>
                </a:solidFill>
                <a:latin typeface="Futura"/>
                <a:ea typeface="Futura"/>
                <a:cs typeface="Futura"/>
                <a:sym typeface="Futura"/>
              </a:rPr>
              <a:t>→</a:t>
            </a:r>
          </a:p>
          <a:p>
            <a:pPr algn="l">
              <a:lnSpc>
                <a:spcPts val="3749"/>
              </a:lnSpc>
            </a:pPr>
            <a:r>
              <a:rPr lang="en-US" sz="2499" spc="249">
                <a:solidFill>
                  <a:srgbClr val="000000"/>
                </a:solidFill>
                <a:latin typeface="Futura"/>
                <a:ea typeface="Futura"/>
                <a:cs typeface="Futura"/>
                <a:sym typeface="Futura"/>
              </a:rPr>
              <a:t>→</a:t>
            </a:r>
          </a:p>
          <a:p>
            <a:pPr algn="l">
              <a:lnSpc>
                <a:spcPts val="3749"/>
              </a:lnSpc>
            </a:pPr>
            <a:r>
              <a:rPr lang="en-US" sz="2499" spc="249">
                <a:solidFill>
                  <a:srgbClr val="000000"/>
                </a:solidFill>
                <a:latin typeface="Futura"/>
                <a:ea typeface="Futura"/>
                <a:cs typeface="Futura"/>
                <a:sym typeface="Futura"/>
              </a:rPr>
              <a:t>→</a:t>
            </a:r>
          </a:p>
        </p:txBody>
      </p:sp>
      <p:sp>
        <p:nvSpPr>
          <p:cNvPr name="TextBox 19" id="19"/>
          <p:cNvSpPr txBox="true"/>
          <p:nvPr/>
        </p:nvSpPr>
        <p:spPr>
          <a:xfrm rot="0">
            <a:off x="3578227" y="8260157"/>
            <a:ext cx="1629756" cy="1428750"/>
          </a:xfrm>
          <a:prstGeom prst="rect">
            <a:avLst/>
          </a:prstGeom>
        </p:spPr>
        <p:txBody>
          <a:bodyPr anchor="t" rtlCol="false" tIns="0" lIns="0" bIns="0" rIns="0">
            <a:spAutoFit/>
          </a:bodyPr>
          <a:lstStyle/>
          <a:p>
            <a:pPr algn="r">
              <a:lnSpc>
                <a:spcPts val="3749"/>
              </a:lnSpc>
            </a:pPr>
            <a:r>
              <a:rPr lang="en-US" sz="2499" spc="249">
                <a:solidFill>
                  <a:srgbClr val="000000"/>
                </a:solidFill>
                <a:latin typeface="Futura"/>
                <a:ea typeface="Futura"/>
                <a:cs typeface="Futura"/>
                <a:sym typeface="Futura"/>
              </a:rPr>
              <a:t>9.99</a:t>
            </a:r>
          </a:p>
          <a:p>
            <a:pPr algn="r">
              <a:lnSpc>
                <a:spcPts val="3749"/>
              </a:lnSpc>
            </a:pPr>
            <a:r>
              <a:rPr lang="en-US" sz="2499" spc="249">
                <a:solidFill>
                  <a:srgbClr val="000000"/>
                </a:solidFill>
                <a:latin typeface="Futura"/>
                <a:ea typeface="Futura"/>
                <a:cs typeface="Futura"/>
                <a:sym typeface="Futura"/>
              </a:rPr>
              <a:t>29.99</a:t>
            </a:r>
          </a:p>
          <a:p>
            <a:pPr algn="r">
              <a:lnSpc>
                <a:spcPts val="3749"/>
              </a:lnSpc>
            </a:pPr>
            <a:r>
              <a:rPr lang="en-US" sz="2499" spc="249">
                <a:solidFill>
                  <a:srgbClr val="000000"/>
                </a:solidFill>
                <a:latin typeface="Futura"/>
                <a:ea typeface="Futura"/>
                <a:cs typeface="Futura"/>
                <a:sym typeface="Futura"/>
              </a:rPr>
              <a:t>19.98</a:t>
            </a:r>
          </a:p>
        </p:txBody>
      </p:sp>
      <p:sp>
        <p:nvSpPr>
          <p:cNvPr name="TextBox 20" id="20"/>
          <p:cNvSpPr txBox="true"/>
          <p:nvPr/>
        </p:nvSpPr>
        <p:spPr>
          <a:xfrm rot="0">
            <a:off x="9363876" y="5566473"/>
            <a:ext cx="7895424" cy="1375537"/>
          </a:xfrm>
          <a:prstGeom prst="rect">
            <a:avLst/>
          </a:prstGeom>
        </p:spPr>
        <p:txBody>
          <a:bodyPr anchor="t" rtlCol="false" tIns="0" lIns="0" bIns="0" rIns="0">
            <a:spAutoFit/>
          </a:bodyPr>
          <a:lstStyle/>
          <a:p>
            <a:pPr algn="r">
              <a:lnSpc>
                <a:spcPts val="2683"/>
              </a:lnSpc>
            </a:pPr>
            <a:r>
              <a:rPr lang="en-US" sz="2199">
                <a:solidFill>
                  <a:srgbClr val="000000"/>
                </a:solidFill>
                <a:latin typeface="Futura"/>
                <a:ea typeface="Futura"/>
                <a:cs typeface="Futura"/>
                <a:sym typeface="Futura"/>
              </a:rPr>
              <a:t>Most movies are rented for an average of 5 days, with durations varying between 3 and 7 days. This indicates a fairly standard rental cycle, giving customers enough time to enjoy their films while keeping inventory turnover steady.</a:t>
            </a:r>
          </a:p>
        </p:txBody>
      </p:sp>
      <p:sp>
        <p:nvSpPr>
          <p:cNvPr name="TextBox 21" id="21"/>
          <p:cNvSpPr txBox="true"/>
          <p:nvPr/>
        </p:nvSpPr>
        <p:spPr>
          <a:xfrm rot="0">
            <a:off x="9363876" y="8313370"/>
            <a:ext cx="7895424" cy="1375537"/>
          </a:xfrm>
          <a:prstGeom prst="rect">
            <a:avLst/>
          </a:prstGeom>
        </p:spPr>
        <p:txBody>
          <a:bodyPr anchor="t" rtlCol="false" tIns="0" lIns="0" bIns="0" rIns="0">
            <a:spAutoFit/>
          </a:bodyPr>
          <a:lstStyle/>
          <a:p>
            <a:pPr algn="r">
              <a:lnSpc>
                <a:spcPts val="2683"/>
              </a:lnSpc>
            </a:pPr>
            <a:r>
              <a:rPr lang="en-US" sz="2199">
                <a:solidFill>
                  <a:srgbClr val="000000"/>
                </a:solidFill>
                <a:latin typeface="Futura"/>
                <a:ea typeface="Futura"/>
                <a:cs typeface="Futura"/>
                <a:sym typeface="Futura"/>
              </a:rPr>
              <a:t>Replacement costs average at $19.98, with a spread from $9.99 to $29.99. These values highlight the importance of managing physical inventory carefully, as damaged or lost items can have a significant cost impact on Rockbuster’s profitability.</a:t>
            </a:r>
          </a:p>
        </p:txBody>
      </p:sp>
      <p:sp>
        <p:nvSpPr>
          <p:cNvPr name="Freeform 22" id="22"/>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2650" y="410503"/>
            <a:ext cx="18846268" cy="903044"/>
            <a:chOff x="0" y="0"/>
            <a:chExt cx="4963626" cy="237839"/>
          </a:xfrm>
        </p:grpSpPr>
        <p:sp>
          <p:nvSpPr>
            <p:cNvPr name="Freeform 3" id="3"/>
            <p:cNvSpPr/>
            <p:nvPr/>
          </p:nvSpPr>
          <p:spPr>
            <a:xfrm flipH="false" flipV="false" rot="0">
              <a:off x="0" y="0"/>
              <a:ext cx="4963626" cy="237839"/>
            </a:xfrm>
            <a:custGeom>
              <a:avLst/>
              <a:gdLst/>
              <a:ahLst/>
              <a:cxnLst/>
              <a:rect r="r" b="b" t="t" l="l"/>
              <a:pathLst>
                <a:path h="237839" w="4963626">
                  <a:moveTo>
                    <a:pt x="0" y="0"/>
                  </a:moveTo>
                  <a:lnTo>
                    <a:pt x="4963626" y="0"/>
                  </a:lnTo>
                  <a:lnTo>
                    <a:pt x="4963626" y="237839"/>
                  </a:lnTo>
                  <a:lnTo>
                    <a:pt x="0" y="237839"/>
                  </a:lnTo>
                  <a:close/>
                </a:path>
              </a:pathLst>
            </a:custGeom>
            <a:solidFill>
              <a:srgbClr val="7ED957">
                <a:alpha val="9804"/>
              </a:srgbClr>
            </a:solidFill>
          </p:spPr>
        </p:sp>
        <p:sp>
          <p:nvSpPr>
            <p:cNvPr name="TextBox 4" id="4"/>
            <p:cNvSpPr txBox="true"/>
            <p:nvPr/>
          </p:nvSpPr>
          <p:spPr>
            <a:xfrm>
              <a:off x="0" y="-9525"/>
              <a:ext cx="4963626" cy="247364"/>
            </a:xfrm>
            <a:prstGeom prst="rect">
              <a:avLst/>
            </a:prstGeom>
          </p:spPr>
          <p:txBody>
            <a:bodyPr anchor="ctr" rtlCol="false" tIns="50800" lIns="50800" bIns="50800" rIns="50800"/>
            <a:lstStyle/>
            <a:p>
              <a:pPr algn="ctr">
                <a:lnSpc>
                  <a:spcPts val="2123"/>
                </a:lnSpc>
              </a:pPr>
            </a:p>
          </p:txBody>
        </p:sp>
      </p:grpSp>
      <p:sp>
        <p:nvSpPr>
          <p:cNvPr name="Freeform 5" id="5"/>
          <p:cNvSpPr/>
          <p:nvPr/>
        </p:nvSpPr>
        <p:spPr>
          <a:xfrm flipH="false" flipV="false" rot="0">
            <a:off x="1028700" y="2133533"/>
            <a:ext cx="10998587" cy="7124767"/>
          </a:xfrm>
          <a:custGeom>
            <a:avLst/>
            <a:gdLst/>
            <a:ahLst/>
            <a:cxnLst/>
            <a:rect r="r" b="b" t="t" l="l"/>
            <a:pathLst>
              <a:path h="7124767" w="10998587">
                <a:moveTo>
                  <a:pt x="0" y="0"/>
                </a:moveTo>
                <a:lnTo>
                  <a:pt x="10998587" y="0"/>
                </a:lnTo>
                <a:lnTo>
                  <a:pt x="10998587" y="7124767"/>
                </a:lnTo>
                <a:lnTo>
                  <a:pt x="0" y="7124767"/>
                </a:lnTo>
                <a:lnTo>
                  <a:pt x="0" y="0"/>
                </a:lnTo>
                <a:close/>
              </a:path>
            </a:pathLst>
          </a:custGeom>
          <a:blipFill>
            <a:blip r:embed="rId2"/>
            <a:stretch>
              <a:fillRect l="-46706" t="-36227" r="-15823" b="-20584"/>
            </a:stretch>
          </a:blipFill>
        </p:spPr>
      </p:sp>
      <p:sp>
        <p:nvSpPr>
          <p:cNvPr name="Freeform 6" id="6"/>
          <p:cNvSpPr/>
          <p:nvPr/>
        </p:nvSpPr>
        <p:spPr>
          <a:xfrm flipH="false" flipV="false" rot="0">
            <a:off x="486869" y="3594138"/>
            <a:ext cx="11540418" cy="5664162"/>
          </a:xfrm>
          <a:custGeom>
            <a:avLst/>
            <a:gdLst/>
            <a:ahLst/>
            <a:cxnLst/>
            <a:rect r="r" b="b" t="t" l="l"/>
            <a:pathLst>
              <a:path h="5664162" w="11540418">
                <a:moveTo>
                  <a:pt x="0" y="0"/>
                </a:moveTo>
                <a:lnTo>
                  <a:pt x="11540418" y="0"/>
                </a:lnTo>
                <a:lnTo>
                  <a:pt x="11540418" y="5664162"/>
                </a:lnTo>
                <a:lnTo>
                  <a:pt x="0" y="5664162"/>
                </a:lnTo>
                <a:lnTo>
                  <a:pt x="0" y="0"/>
                </a:lnTo>
                <a:close/>
              </a:path>
            </a:pathLst>
          </a:custGeom>
          <a:blipFill>
            <a:blip r:embed="rId2"/>
            <a:stretch>
              <a:fillRect l="-39818" t="-71356" r="-15080" b="-25892"/>
            </a:stretch>
          </a:blipFill>
        </p:spPr>
      </p:sp>
      <p:grpSp>
        <p:nvGrpSpPr>
          <p:cNvPr name="Group 7" id="7"/>
          <p:cNvGrpSpPr/>
          <p:nvPr/>
        </p:nvGrpSpPr>
        <p:grpSpPr>
          <a:xfrm rot="0">
            <a:off x="486869" y="8971710"/>
            <a:ext cx="1452735" cy="400470"/>
            <a:chOff x="0" y="0"/>
            <a:chExt cx="382613" cy="105474"/>
          </a:xfrm>
        </p:grpSpPr>
        <p:sp>
          <p:nvSpPr>
            <p:cNvPr name="Freeform 8" id="8"/>
            <p:cNvSpPr/>
            <p:nvPr/>
          </p:nvSpPr>
          <p:spPr>
            <a:xfrm flipH="false" flipV="false" rot="0">
              <a:off x="0" y="0"/>
              <a:ext cx="382613" cy="105474"/>
            </a:xfrm>
            <a:custGeom>
              <a:avLst/>
              <a:gdLst/>
              <a:ahLst/>
              <a:cxnLst/>
              <a:rect r="r" b="b" t="t" l="l"/>
              <a:pathLst>
                <a:path h="105474" w="382613">
                  <a:moveTo>
                    <a:pt x="0" y="0"/>
                  </a:moveTo>
                  <a:lnTo>
                    <a:pt x="382613" y="0"/>
                  </a:lnTo>
                  <a:lnTo>
                    <a:pt x="382613" y="105474"/>
                  </a:lnTo>
                  <a:lnTo>
                    <a:pt x="0" y="105474"/>
                  </a:lnTo>
                  <a:close/>
                </a:path>
              </a:pathLst>
            </a:custGeom>
            <a:solidFill>
              <a:srgbClr val="FFFFFF"/>
            </a:solidFill>
          </p:spPr>
        </p:sp>
        <p:sp>
          <p:nvSpPr>
            <p:cNvPr name="TextBox 9" id="9"/>
            <p:cNvSpPr txBox="true"/>
            <p:nvPr/>
          </p:nvSpPr>
          <p:spPr>
            <a:xfrm>
              <a:off x="0" y="-123825"/>
              <a:ext cx="382613" cy="229299"/>
            </a:xfrm>
            <a:prstGeom prst="rect">
              <a:avLst/>
            </a:prstGeom>
          </p:spPr>
          <p:txBody>
            <a:bodyPr anchor="ctr" rtlCol="false" tIns="50800" lIns="50800" bIns="50800" rIns="50800"/>
            <a:lstStyle/>
            <a:p>
              <a:pPr algn="ctr">
                <a:lnSpc>
                  <a:spcPts val="3749"/>
                </a:lnSpc>
              </a:pPr>
            </a:p>
          </p:txBody>
        </p:sp>
      </p:grpSp>
      <p:sp>
        <p:nvSpPr>
          <p:cNvPr name="TextBox 10" id="10"/>
          <p:cNvSpPr txBox="true"/>
          <p:nvPr/>
        </p:nvSpPr>
        <p:spPr>
          <a:xfrm rot="0">
            <a:off x="0" y="548018"/>
            <a:ext cx="18288000" cy="618490"/>
          </a:xfrm>
          <a:prstGeom prst="rect">
            <a:avLst/>
          </a:prstGeom>
        </p:spPr>
        <p:txBody>
          <a:bodyPr anchor="t" rtlCol="false" tIns="0" lIns="0" bIns="0" rIns="0">
            <a:spAutoFit/>
          </a:bodyPr>
          <a:lstStyle/>
          <a:p>
            <a:pPr algn="ctr">
              <a:lnSpc>
                <a:spcPts val="4879"/>
              </a:lnSpc>
              <a:spcBef>
                <a:spcPct val="0"/>
              </a:spcBef>
            </a:pPr>
            <a:r>
              <a:rPr lang="en-US" sz="3999">
                <a:solidFill>
                  <a:srgbClr val="404040"/>
                </a:solidFill>
                <a:latin typeface="Inter"/>
                <a:ea typeface="Inter"/>
                <a:cs typeface="Inter"/>
                <a:sym typeface="Inter"/>
              </a:rPr>
              <a:t>WHICH COUNTRIES BRING THE HIGHEST REVENUE?</a:t>
            </a:r>
          </a:p>
        </p:txBody>
      </p:sp>
      <p:grpSp>
        <p:nvGrpSpPr>
          <p:cNvPr name="Group 11" id="11"/>
          <p:cNvGrpSpPr/>
          <p:nvPr/>
        </p:nvGrpSpPr>
        <p:grpSpPr>
          <a:xfrm rot="0">
            <a:off x="10574552" y="8971710"/>
            <a:ext cx="1452735" cy="400470"/>
            <a:chOff x="0" y="0"/>
            <a:chExt cx="382613" cy="105474"/>
          </a:xfrm>
        </p:grpSpPr>
        <p:sp>
          <p:nvSpPr>
            <p:cNvPr name="Freeform 12" id="12"/>
            <p:cNvSpPr/>
            <p:nvPr/>
          </p:nvSpPr>
          <p:spPr>
            <a:xfrm flipH="false" flipV="false" rot="0">
              <a:off x="0" y="0"/>
              <a:ext cx="382613" cy="105474"/>
            </a:xfrm>
            <a:custGeom>
              <a:avLst/>
              <a:gdLst/>
              <a:ahLst/>
              <a:cxnLst/>
              <a:rect r="r" b="b" t="t" l="l"/>
              <a:pathLst>
                <a:path h="105474" w="382613">
                  <a:moveTo>
                    <a:pt x="0" y="0"/>
                  </a:moveTo>
                  <a:lnTo>
                    <a:pt x="382613" y="0"/>
                  </a:lnTo>
                  <a:lnTo>
                    <a:pt x="382613" y="105474"/>
                  </a:lnTo>
                  <a:lnTo>
                    <a:pt x="0" y="105474"/>
                  </a:lnTo>
                  <a:close/>
                </a:path>
              </a:pathLst>
            </a:custGeom>
            <a:solidFill>
              <a:srgbClr val="FFFFFF"/>
            </a:solidFill>
          </p:spPr>
        </p:sp>
        <p:sp>
          <p:nvSpPr>
            <p:cNvPr name="TextBox 13" id="13"/>
            <p:cNvSpPr txBox="true"/>
            <p:nvPr/>
          </p:nvSpPr>
          <p:spPr>
            <a:xfrm>
              <a:off x="0" y="-123825"/>
              <a:ext cx="382613" cy="229299"/>
            </a:xfrm>
            <a:prstGeom prst="rect">
              <a:avLst/>
            </a:prstGeom>
          </p:spPr>
          <p:txBody>
            <a:bodyPr anchor="ctr" rtlCol="false" tIns="50800" lIns="50800" bIns="50800" rIns="50800"/>
            <a:lstStyle/>
            <a:p>
              <a:pPr algn="ctr">
                <a:lnSpc>
                  <a:spcPts val="3749"/>
                </a:lnSpc>
              </a:pPr>
            </a:p>
          </p:txBody>
        </p:sp>
      </p:grpSp>
      <p:sp>
        <p:nvSpPr>
          <p:cNvPr name="TextBox 14" id="14"/>
          <p:cNvSpPr txBox="true"/>
          <p:nvPr/>
        </p:nvSpPr>
        <p:spPr>
          <a:xfrm rot="0">
            <a:off x="12504162" y="2800234"/>
            <a:ext cx="503703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Revenue Leaders</a:t>
            </a:r>
          </a:p>
          <a:p>
            <a:pPr algn="l">
              <a:lnSpc>
                <a:spcPts val="3000"/>
              </a:lnSpc>
            </a:pPr>
            <a:r>
              <a:rPr lang="en-US" sz="2000">
                <a:solidFill>
                  <a:srgbClr val="000000"/>
                </a:solidFill>
                <a:latin typeface="Futura"/>
                <a:ea typeface="Futura"/>
                <a:cs typeface="Futura"/>
                <a:sym typeface="Futura"/>
              </a:rPr>
              <a:t>India and China stand out as the top revenue-generating countries, followed by the United States and a few strong European markets. These regions represent Rockbuster’s largest customer base and strongest sales potential.</a:t>
            </a:r>
          </a:p>
        </p:txBody>
      </p:sp>
      <p:sp>
        <p:nvSpPr>
          <p:cNvPr name="TextBox 15" id="15"/>
          <p:cNvSpPr txBox="true"/>
          <p:nvPr/>
        </p:nvSpPr>
        <p:spPr>
          <a:xfrm rot="0">
            <a:off x="12504162" y="6172249"/>
            <a:ext cx="503703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Growth Opportunities</a:t>
            </a:r>
          </a:p>
          <a:p>
            <a:pPr algn="l">
              <a:lnSpc>
                <a:spcPts val="3000"/>
              </a:lnSpc>
            </a:pPr>
            <a:r>
              <a:rPr lang="en-US" sz="2000">
                <a:solidFill>
                  <a:srgbClr val="000000"/>
                </a:solidFill>
                <a:latin typeface="Futura"/>
                <a:ea typeface="Futura"/>
                <a:cs typeface="Futura"/>
                <a:sym typeface="Futura"/>
              </a:rPr>
              <a:t>Latin America and parts of Asia show moderate but growing contributions. With targeted marketing or localized strategies, these markets could be expanded to further diversify Rockbuster’s revenue streams.</a:t>
            </a:r>
          </a:p>
        </p:txBody>
      </p:sp>
      <p:sp>
        <p:nvSpPr>
          <p:cNvPr name="Freeform 16" id="16"/>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2650" y="410503"/>
            <a:ext cx="19736480" cy="903044"/>
            <a:chOff x="0" y="0"/>
            <a:chExt cx="5198085" cy="237839"/>
          </a:xfrm>
        </p:grpSpPr>
        <p:sp>
          <p:nvSpPr>
            <p:cNvPr name="Freeform 3" id="3"/>
            <p:cNvSpPr/>
            <p:nvPr/>
          </p:nvSpPr>
          <p:spPr>
            <a:xfrm flipH="false" flipV="false" rot="0">
              <a:off x="0" y="0"/>
              <a:ext cx="5198085" cy="237839"/>
            </a:xfrm>
            <a:custGeom>
              <a:avLst/>
              <a:gdLst/>
              <a:ahLst/>
              <a:cxnLst/>
              <a:rect r="r" b="b" t="t" l="l"/>
              <a:pathLst>
                <a:path h="237839" w="5198085">
                  <a:moveTo>
                    <a:pt x="0" y="0"/>
                  </a:moveTo>
                  <a:lnTo>
                    <a:pt x="5198085" y="0"/>
                  </a:lnTo>
                  <a:lnTo>
                    <a:pt x="5198085" y="237839"/>
                  </a:lnTo>
                  <a:lnTo>
                    <a:pt x="0" y="237839"/>
                  </a:lnTo>
                  <a:close/>
                </a:path>
              </a:pathLst>
            </a:custGeom>
            <a:solidFill>
              <a:srgbClr val="7ED957">
                <a:alpha val="9804"/>
              </a:srgbClr>
            </a:solidFill>
          </p:spPr>
        </p:sp>
        <p:sp>
          <p:nvSpPr>
            <p:cNvPr name="TextBox 4" id="4"/>
            <p:cNvSpPr txBox="true"/>
            <p:nvPr/>
          </p:nvSpPr>
          <p:spPr>
            <a:xfrm>
              <a:off x="0" y="-9525"/>
              <a:ext cx="5198085" cy="247364"/>
            </a:xfrm>
            <a:prstGeom prst="rect">
              <a:avLst/>
            </a:prstGeom>
          </p:spPr>
          <p:txBody>
            <a:bodyPr anchor="ctr" rtlCol="false" tIns="50800" lIns="50800" bIns="50800" rIns="50800"/>
            <a:lstStyle/>
            <a:p>
              <a:pPr algn="ctr">
                <a:lnSpc>
                  <a:spcPts val="2123"/>
                </a:lnSpc>
              </a:pPr>
            </a:p>
          </p:txBody>
        </p:sp>
      </p:grpSp>
      <p:grpSp>
        <p:nvGrpSpPr>
          <p:cNvPr name="Group 5" id="5"/>
          <p:cNvGrpSpPr/>
          <p:nvPr/>
        </p:nvGrpSpPr>
        <p:grpSpPr>
          <a:xfrm rot="0">
            <a:off x="486869" y="8971710"/>
            <a:ext cx="1452735" cy="400470"/>
            <a:chOff x="0" y="0"/>
            <a:chExt cx="382613" cy="105474"/>
          </a:xfrm>
        </p:grpSpPr>
        <p:sp>
          <p:nvSpPr>
            <p:cNvPr name="Freeform 6" id="6"/>
            <p:cNvSpPr/>
            <p:nvPr/>
          </p:nvSpPr>
          <p:spPr>
            <a:xfrm flipH="false" flipV="false" rot="0">
              <a:off x="0" y="0"/>
              <a:ext cx="382613" cy="105474"/>
            </a:xfrm>
            <a:custGeom>
              <a:avLst/>
              <a:gdLst/>
              <a:ahLst/>
              <a:cxnLst/>
              <a:rect r="r" b="b" t="t" l="l"/>
              <a:pathLst>
                <a:path h="105474" w="382613">
                  <a:moveTo>
                    <a:pt x="0" y="0"/>
                  </a:moveTo>
                  <a:lnTo>
                    <a:pt x="382613" y="0"/>
                  </a:lnTo>
                  <a:lnTo>
                    <a:pt x="382613" y="105474"/>
                  </a:lnTo>
                  <a:lnTo>
                    <a:pt x="0" y="105474"/>
                  </a:lnTo>
                  <a:close/>
                </a:path>
              </a:pathLst>
            </a:custGeom>
            <a:solidFill>
              <a:srgbClr val="FFFFFF"/>
            </a:solidFill>
          </p:spPr>
        </p:sp>
        <p:sp>
          <p:nvSpPr>
            <p:cNvPr name="TextBox 7" id="7"/>
            <p:cNvSpPr txBox="true"/>
            <p:nvPr/>
          </p:nvSpPr>
          <p:spPr>
            <a:xfrm>
              <a:off x="0" y="-123825"/>
              <a:ext cx="382613" cy="229299"/>
            </a:xfrm>
            <a:prstGeom prst="rect">
              <a:avLst/>
            </a:prstGeom>
          </p:spPr>
          <p:txBody>
            <a:bodyPr anchor="ctr" rtlCol="false" tIns="50800" lIns="50800" bIns="50800" rIns="50800"/>
            <a:lstStyle/>
            <a:p>
              <a:pPr algn="ctr">
                <a:lnSpc>
                  <a:spcPts val="3749"/>
                </a:lnSpc>
              </a:pPr>
            </a:p>
          </p:txBody>
        </p:sp>
      </p:grpSp>
      <p:sp>
        <p:nvSpPr>
          <p:cNvPr name="Freeform 8" id="8"/>
          <p:cNvSpPr/>
          <p:nvPr/>
        </p:nvSpPr>
        <p:spPr>
          <a:xfrm flipH="false" flipV="false" rot="0">
            <a:off x="1883581" y="1751210"/>
            <a:ext cx="7508629" cy="8066102"/>
          </a:xfrm>
          <a:custGeom>
            <a:avLst/>
            <a:gdLst/>
            <a:ahLst/>
            <a:cxnLst/>
            <a:rect r="r" b="b" t="t" l="l"/>
            <a:pathLst>
              <a:path h="8066102" w="7508629">
                <a:moveTo>
                  <a:pt x="0" y="0"/>
                </a:moveTo>
                <a:lnTo>
                  <a:pt x="7508630" y="0"/>
                </a:lnTo>
                <a:lnTo>
                  <a:pt x="7508630" y="8066102"/>
                </a:lnTo>
                <a:lnTo>
                  <a:pt x="0" y="8066102"/>
                </a:lnTo>
                <a:lnTo>
                  <a:pt x="0" y="0"/>
                </a:lnTo>
                <a:close/>
              </a:path>
            </a:pathLst>
          </a:custGeom>
          <a:blipFill>
            <a:blip r:embed="rId2"/>
            <a:stretch>
              <a:fillRect l="-1420" t="-5067" r="-70540" b="-1182"/>
            </a:stretch>
          </a:blipFill>
        </p:spPr>
      </p:sp>
      <p:sp>
        <p:nvSpPr>
          <p:cNvPr name="TextBox 9" id="9"/>
          <p:cNvSpPr txBox="true"/>
          <p:nvPr/>
        </p:nvSpPr>
        <p:spPr>
          <a:xfrm rot="0">
            <a:off x="0" y="548018"/>
            <a:ext cx="18288000" cy="618490"/>
          </a:xfrm>
          <a:prstGeom prst="rect">
            <a:avLst/>
          </a:prstGeom>
        </p:spPr>
        <p:txBody>
          <a:bodyPr anchor="t" rtlCol="false" tIns="0" lIns="0" bIns="0" rIns="0">
            <a:spAutoFit/>
          </a:bodyPr>
          <a:lstStyle/>
          <a:p>
            <a:pPr algn="ctr">
              <a:lnSpc>
                <a:spcPts val="4879"/>
              </a:lnSpc>
              <a:spcBef>
                <a:spcPct val="0"/>
              </a:spcBef>
            </a:pPr>
            <a:r>
              <a:rPr lang="en-US" sz="3999">
                <a:solidFill>
                  <a:srgbClr val="404040"/>
                </a:solidFill>
                <a:latin typeface="Inter"/>
                <a:ea typeface="Inter"/>
                <a:cs typeface="Inter"/>
                <a:sym typeface="Inter"/>
              </a:rPr>
              <a:t>TOP 5 AVERAGE PAYING CUSTOMER COUNTRIES</a:t>
            </a:r>
          </a:p>
        </p:txBody>
      </p:sp>
      <p:sp>
        <p:nvSpPr>
          <p:cNvPr name="TextBox 10" id="10"/>
          <p:cNvSpPr txBox="true"/>
          <p:nvPr/>
        </p:nvSpPr>
        <p:spPr>
          <a:xfrm rot="0">
            <a:off x="11367384" y="2888579"/>
            <a:ext cx="503703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High-Value Markets</a:t>
            </a:r>
          </a:p>
          <a:p>
            <a:pPr algn="l">
              <a:lnSpc>
                <a:spcPts val="3000"/>
              </a:lnSpc>
            </a:pPr>
            <a:r>
              <a:rPr lang="en-US" sz="2000">
                <a:solidFill>
                  <a:srgbClr val="000000"/>
                </a:solidFill>
                <a:latin typeface="Futura"/>
                <a:ea typeface="Futura"/>
                <a:cs typeface="Futura"/>
                <a:sym typeface="Futura"/>
              </a:rPr>
              <a:t>Taiwan and the Philippines lead in customer value, with average spending per customer above $110. These results suggest strong purchasing behavior in smaller but highly engaged markets.</a:t>
            </a:r>
          </a:p>
        </p:txBody>
      </p:sp>
      <p:sp>
        <p:nvSpPr>
          <p:cNvPr name="TextBox 11" id="11"/>
          <p:cNvSpPr txBox="true"/>
          <p:nvPr/>
        </p:nvSpPr>
        <p:spPr>
          <a:xfrm rot="0">
            <a:off x="11367384" y="6260593"/>
            <a:ext cx="503703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Strategic Insight</a:t>
            </a:r>
          </a:p>
          <a:p>
            <a:pPr algn="l">
              <a:lnSpc>
                <a:spcPts val="3000"/>
              </a:lnSpc>
            </a:pPr>
            <a:r>
              <a:rPr lang="en-US" sz="2000">
                <a:solidFill>
                  <a:srgbClr val="000000"/>
                </a:solidFill>
                <a:latin typeface="Futura"/>
                <a:ea typeface="Futura"/>
                <a:cs typeface="Futura"/>
                <a:sym typeface="Futura"/>
              </a:rPr>
              <a:t>Brazil, the United States, and Nigeria also show high per-customer spend, indicating opportunities to strengthen loyalty programs and maximize revenue from already valuable customer bases.</a:t>
            </a:r>
          </a:p>
        </p:txBody>
      </p:sp>
      <p:sp>
        <p:nvSpPr>
          <p:cNvPr name="Freeform 12" id="12"/>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2650" y="410503"/>
            <a:ext cx="19736480" cy="903044"/>
            <a:chOff x="0" y="0"/>
            <a:chExt cx="5198085" cy="237839"/>
          </a:xfrm>
        </p:grpSpPr>
        <p:sp>
          <p:nvSpPr>
            <p:cNvPr name="Freeform 3" id="3"/>
            <p:cNvSpPr/>
            <p:nvPr/>
          </p:nvSpPr>
          <p:spPr>
            <a:xfrm flipH="false" flipV="false" rot="0">
              <a:off x="0" y="0"/>
              <a:ext cx="5198085" cy="237839"/>
            </a:xfrm>
            <a:custGeom>
              <a:avLst/>
              <a:gdLst/>
              <a:ahLst/>
              <a:cxnLst/>
              <a:rect r="r" b="b" t="t" l="l"/>
              <a:pathLst>
                <a:path h="237839" w="5198085">
                  <a:moveTo>
                    <a:pt x="0" y="0"/>
                  </a:moveTo>
                  <a:lnTo>
                    <a:pt x="5198085" y="0"/>
                  </a:lnTo>
                  <a:lnTo>
                    <a:pt x="5198085" y="237839"/>
                  </a:lnTo>
                  <a:lnTo>
                    <a:pt x="0" y="237839"/>
                  </a:lnTo>
                  <a:close/>
                </a:path>
              </a:pathLst>
            </a:custGeom>
            <a:solidFill>
              <a:srgbClr val="7ED957">
                <a:alpha val="9804"/>
              </a:srgbClr>
            </a:solidFill>
          </p:spPr>
        </p:sp>
        <p:sp>
          <p:nvSpPr>
            <p:cNvPr name="TextBox 4" id="4"/>
            <p:cNvSpPr txBox="true"/>
            <p:nvPr/>
          </p:nvSpPr>
          <p:spPr>
            <a:xfrm>
              <a:off x="0" y="-9525"/>
              <a:ext cx="5198085" cy="247364"/>
            </a:xfrm>
            <a:prstGeom prst="rect">
              <a:avLst/>
            </a:prstGeom>
          </p:spPr>
          <p:txBody>
            <a:bodyPr anchor="ctr" rtlCol="false" tIns="50800" lIns="50800" bIns="50800" rIns="50800"/>
            <a:lstStyle/>
            <a:p>
              <a:pPr algn="ctr">
                <a:lnSpc>
                  <a:spcPts val="2123"/>
                </a:lnSpc>
              </a:pPr>
            </a:p>
          </p:txBody>
        </p:sp>
      </p:grpSp>
      <p:grpSp>
        <p:nvGrpSpPr>
          <p:cNvPr name="Group 5" id="5"/>
          <p:cNvGrpSpPr/>
          <p:nvPr/>
        </p:nvGrpSpPr>
        <p:grpSpPr>
          <a:xfrm rot="0">
            <a:off x="486869" y="8971710"/>
            <a:ext cx="1452735" cy="400470"/>
            <a:chOff x="0" y="0"/>
            <a:chExt cx="382613" cy="105474"/>
          </a:xfrm>
        </p:grpSpPr>
        <p:sp>
          <p:nvSpPr>
            <p:cNvPr name="Freeform 6" id="6"/>
            <p:cNvSpPr/>
            <p:nvPr/>
          </p:nvSpPr>
          <p:spPr>
            <a:xfrm flipH="false" flipV="false" rot="0">
              <a:off x="0" y="0"/>
              <a:ext cx="382613" cy="105474"/>
            </a:xfrm>
            <a:custGeom>
              <a:avLst/>
              <a:gdLst/>
              <a:ahLst/>
              <a:cxnLst/>
              <a:rect r="r" b="b" t="t" l="l"/>
              <a:pathLst>
                <a:path h="105474" w="382613">
                  <a:moveTo>
                    <a:pt x="0" y="0"/>
                  </a:moveTo>
                  <a:lnTo>
                    <a:pt x="382613" y="0"/>
                  </a:lnTo>
                  <a:lnTo>
                    <a:pt x="382613" y="105474"/>
                  </a:lnTo>
                  <a:lnTo>
                    <a:pt x="0" y="105474"/>
                  </a:lnTo>
                  <a:close/>
                </a:path>
              </a:pathLst>
            </a:custGeom>
            <a:solidFill>
              <a:srgbClr val="FFFFFF"/>
            </a:solidFill>
          </p:spPr>
        </p:sp>
        <p:sp>
          <p:nvSpPr>
            <p:cNvPr name="TextBox 7" id="7"/>
            <p:cNvSpPr txBox="true"/>
            <p:nvPr/>
          </p:nvSpPr>
          <p:spPr>
            <a:xfrm>
              <a:off x="0" y="-123825"/>
              <a:ext cx="382613" cy="229299"/>
            </a:xfrm>
            <a:prstGeom prst="rect">
              <a:avLst/>
            </a:prstGeom>
          </p:spPr>
          <p:txBody>
            <a:bodyPr anchor="ctr" rtlCol="false" tIns="50800" lIns="50800" bIns="50800" rIns="50800"/>
            <a:lstStyle/>
            <a:p>
              <a:pPr algn="ctr">
                <a:lnSpc>
                  <a:spcPts val="3749"/>
                </a:lnSpc>
              </a:pPr>
            </a:p>
          </p:txBody>
        </p:sp>
      </p:grpSp>
      <p:sp>
        <p:nvSpPr>
          <p:cNvPr name="TextBox 8" id="8"/>
          <p:cNvSpPr txBox="true"/>
          <p:nvPr/>
        </p:nvSpPr>
        <p:spPr>
          <a:xfrm rot="0">
            <a:off x="0" y="548018"/>
            <a:ext cx="18288000" cy="618490"/>
          </a:xfrm>
          <a:prstGeom prst="rect">
            <a:avLst/>
          </a:prstGeom>
        </p:spPr>
        <p:txBody>
          <a:bodyPr anchor="t" rtlCol="false" tIns="0" lIns="0" bIns="0" rIns="0">
            <a:spAutoFit/>
          </a:bodyPr>
          <a:lstStyle/>
          <a:p>
            <a:pPr algn="ctr">
              <a:lnSpc>
                <a:spcPts val="4879"/>
              </a:lnSpc>
              <a:spcBef>
                <a:spcPct val="0"/>
              </a:spcBef>
            </a:pPr>
            <a:r>
              <a:rPr lang="en-US" sz="3999">
                <a:solidFill>
                  <a:srgbClr val="404040"/>
                </a:solidFill>
                <a:latin typeface="Inter"/>
                <a:ea typeface="Inter"/>
                <a:cs typeface="Inter"/>
                <a:sym typeface="Inter"/>
              </a:rPr>
              <a:t>CUSTOMERS HIGHEST NUMBER COUNTRIES</a:t>
            </a:r>
          </a:p>
        </p:txBody>
      </p:sp>
      <p:sp>
        <p:nvSpPr>
          <p:cNvPr name="Freeform 9" id="9"/>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28700" y="2521660"/>
            <a:ext cx="10393996" cy="6450050"/>
          </a:xfrm>
          <a:custGeom>
            <a:avLst/>
            <a:gdLst/>
            <a:ahLst/>
            <a:cxnLst/>
            <a:rect r="r" b="b" t="t" l="l"/>
            <a:pathLst>
              <a:path h="6450050" w="10393996">
                <a:moveTo>
                  <a:pt x="0" y="0"/>
                </a:moveTo>
                <a:lnTo>
                  <a:pt x="10393996" y="0"/>
                </a:lnTo>
                <a:lnTo>
                  <a:pt x="10393996" y="6450050"/>
                </a:lnTo>
                <a:lnTo>
                  <a:pt x="0" y="6450050"/>
                </a:lnTo>
                <a:lnTo>
                  <a:pt x="0" y="0"/>
                </a:lnTo>
                <a:close/>
              </a:path>
            </a:pathLst>
          </a:custGeom>
          <a:blipFill>
            <a:blip r:embed="rId4"/>
            <a:stretch>
              <a:fillRect l="-1010" t="-5600" r="0" b="0"/>
            </a:stretch>
          </a:blipFill>
        </p:spPr>
      </p:sp>
      <p:sp>
        <p:nvSpPr>
          <p:cNvPr name="TextBox 11" id="11"/>
          <p:cNvSpPr txBox="true"/>
          <p:nvPr/>
        </p:nvSpPr>
        <p:spPr>
          <a:xfrm rot="0">
            <a:off x="12040962" y="3056032"/>
            <a:ext cx="5272747" cy="1933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Customer Concentration</a:t>
            </a:r>
          </a:p>
          <a:p>
            <a:pPr algn="l">
              <a:lnSpc>
                <a:spcPts val="3000"/>
              </a:lnSpc>
            </a:pPr>
            <a:r>
              <a:rPr lang="en-US" sz="2000">
                <a:solidFill>
                  <a:srgbClr val="000000"/>
                </a:solidFill>
                <a:latin typeface="Futura"/>
                <a:ea typeface="Futura"/>
                <a:cs typeface="Futura"/>
                <a:sym typeface="Futura"/>
              </a:rPr>
              <a:t>Asia dominates Rockbuster’s customer base, with India and China leading in volume, supported by strong numbers in Japan, the Philippines, and Indonesia.</a:t>
            </a:r>
          </a:p>
        </p:txBody>
      </p:sp>
      <p:sp>
        <p:nvSpPr>
          <p:cNvPr name="TextBox 12" id="12"/>
          <p:cNvSpPr txBox="true"/>
          <p:nvPr/>
        </p:nvSpPr>
        <p:spPr>
          <a:xfrm rot="0">
            <a:off x="12040962" y="6017987"/>
            <a:ext cx="5454051"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Strategic Opportunity</a:t>
            </a:r>
          </a:p>
          <a:p>
            <a:pPr algn="l">
              <a:lnSpc>
                <a:spcPts val="3000"/>
              </a:lnSpc>
            </a:pPr>
            <a:r>
              <a:rPr lang="en-US" sz="2000">
                <a:solidFill>
                  <a:srgbClr val="000000"/>
                </a:solidFill>
                <a:latin typeface="Futura"/>
                <a:ea typeface="Futura"/>
                <a:cs typeface="Futura"/>
                <a:sym typeface="Futura"/>
              </a:rPr>
              <a:t>This spread highlights Asia as Rockbuster’s core growth engine, while the Americas and Europe still provide meaningful scale. Tailored regional strategies could help convert large customer bases into higher revenue per user.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2650" y="410503"/>
            <a:ext cx="19736480" cy="903044"/>
            <a:chOff x="0" y="0"/>
            <a:chExt cx="5198085" cy="237839"/>
          </a:xfrm>
        </p:grpSpPr>
        <p:sp>
          <p:nvSpPr>
            <p:cNvPr name="Freeform 3" id="3"/>
            <p:cNvSpPr/>
            <p:nvPr/>
          </p:nvSpPr>
          <p:spPr>
            <a:xfrm flipH="false" flipV="false" rot="0">
              <a:off x="0" y="0"/>
              <a:ext cx="5198085" cy="237839"/>
            </a:xfrm>
            <a:custGeom>
              <a:avLst/>
              <a:gdLst/>
              <a:ahLst/>
              <a:cxnLst/>
              <a:rect r="r" b="b" t="t" l="l"/>
              <a:pathLst>
                <a:path h="237839" w="5198085">
                  <a:moveTo>
                    <a:pt x="0" y="0"/>
                  </a:moveTo>
                  <a:lnTo>
                    <a:pt x="5198085" y="0"/>
                  </a:lnTo>
                  <a:lnTo>
                    <a:pt x="5198085" y="237839"/>
                  </a:lnTo>
                  <a:lnTo>
                    <a:pt x="0" y="237839"/>
                  </a:lnTo>
                  <a:close/>
                </a:path>
              </a:pathLst>
            </a:custGeom>
            <a:solidFill>
              <a:srgbClr val="7ED957">
                <a:alpha val="9804"/>
              </a:srgbClr>
            </a:solidFill>
          </p:spPr>
        </p:sp>
        <p:sp>
          <p:nvSpPr>
            <p:cNvPr name="TextBox 4" id="4"/>
            <p:cNvSpPr txBox="true"/>
            <p:nvPr/>
          </p:nvSpPr>
          <p:spPr>
            <a:xfrm>
              <a:off x="0" y="-9525"/>
              <a:ext cx="5198085" cy="247364"/>
            </a:xfrm>
            <a:prstGeom prst="rect">
              <a:avLst/>
            </a:prstGeom>
          </p:spPr>
          <p:txBody>
            <a:bodyPr anchor="ctr" rtlCol="false" tIns="50800" lIns="50800" bIns="50800" rIns="50800"/>
            <a:lstStyle/>
            <a:p>
              <a:pPr algn="ctr">
                <a:lnSpc>
                  <a:spcPts val="2123"/>
                </a:lnSpc>
              </a:pPr>
            </a:p>
          </p:txBody>
        </p:sp>
      </p:grpSp>
      <p:grpSp>
        <p:nvGrpSpPr>
          <p:cNvPr name="Group 5" id="5"/>
          <p:cNvGrpSpPr/>
          <p:nvPr/>
        </p:nvGrpSpPr>
        <p:grpSpPr>
          <a:xfrm rot="0">
            <a:off x="486869" y="8971710"/>
            <a:ext cx="1452735" cy="400470"/>
            <a:chOff x="0" y="0"/>
            <a:chExt cx="382613" cy="105474"/>
          </a:xfrm>
        </p:grpSpPr>
        <p:sp>
          <p:nvSpPr>
            <p:cNvPr name="Freeform 6" id="6"/>
            <p:cNvSpPr/>
            <p:nvPr/>
          </p:nvSpPr>
          <p:spPr>
            <a:xfrm flipH="false" flipV="false" rot="0">
              <a:off x="0" y="0"/>
              <a:ext cx="382613" cy="105474"/>
            </a:xfrm>
            <a:custGeom>
              <a:avLst/>
              <a:gdLst/>
              <a:ahLst/>
              <a:cxnLst/>
              <a:rect r="r" b="b" t="t" l="l"/>
              <a:pathLst>
                <a:path h="105474" w="382613">
                  <a:moveTo>
                    <a:pt x="0" y="0"/>
                  </a:moveTo>
                  <a:lnTo>
                    <a:pt x="382613" y="0"/>
                  </a:lnTo>
                  <a:lnTo>
                    <a:pt x="382613" y="105474"/>
                  </a:lnTo>
                  <a:lnTo>
                    <a:pt x="0" y="105474"/>
                  </a:lnTo>
                  <a:close/>
                </a:path>
              </a:pathLst>
            </a:custGeom>
            <a:solidFill>
              <a:srgbClr val="FFFFFF"/>
            </a:solidFill>
          </p:spPr>
        </p:sp>
        <p:sp>
          <p:nvSpPr>
            <p:cNvPr name="TextBox 7" id="7"/>
            <p:cNvSpPr txBox="true"/>
            <p:nvPr/>
          </p:nvSpPr>
          <p:spPr>
            <a:xfrm>
              <a:off x="0" y="-123825"/>
              <a:ext cx="382613" cy="229299"/>
            </a:xfrm>
            <a:prstGeom prst="rect">
              <a:avLst/>
            </a:prstGeom>
          </p:spPr>
          <p:txBody>
            <a:bodyPr anchor="ctr" rtlCol="false" tIns="50800" lIns="50800" bIns="50800" rIns="50800"/>
            <a:lstStyle/>
            <a:p>
              <a:pPr algn="ctr">
                <a:lnSpc>
                  <a:spcPts val="3749"/>
                </a:lnSpc>
              </a:pPr>
            </a:p>
          </p:txBody>
        </p:sp>
      </p:grpSp>
      <p:sp>
        <p:nvSpPr>
          <p:cNvPr name="TextBox 8" id="8"/>
          <p:cNvSpPr txBox="true"/>
          <p:nvPr/>
        </p:nvSpPr>
        <p:spPr>
          <a:xfrm rot="0">
            <a:off x="0" y="548018"/>
            <a:ext cx="18288000" cy="618490"/>
          </a:xfrm>
          <a:prstGeom prst="rect">
            <a:avLst/>
          </a:prstGeom>
        </p:spPr>
        <p:txBody>
          <a:bodyPr anchor="t" rtlCol="false" tIns="0" lIns="0" bIns="0" rIns="0">
            <a:spAutoFit/>
          </a:bodyPr>
          <a:lstStyle/>
          <a:p>
            <a:pPr algn="ctr">
              <a:lnSpc>
                <a:spcPts val="4879"/>
              </a:lnSpc>
              <a:spcBef>
                <a:spcPct val="0"/>
              </a:spcBef>
            </a:pPr>
            <a:r>
              <a:rPr lang="en-US" sz="3999">
                <a:solidFill>
                  <a:srgbClr val="404040"/>
                </a:solidFill>
                <a:latin typeface="Inter"/>
                <a:ea typeface="Inter"/>
                <a:cs typeface="Inter"/>
                <a:sym typeface="Inter"/>
              </a:rPr>
              <a:t>RENTALS REVENUE BY FILM CATEGORY</a:t>
            </a:r>
          </a:p>
        </p:txBody>
      </p:sp>
      <p:sp>
        <p:nvSpPr>
          <p:cNvPr name="Freeform 9" id="9"/>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028964" y="2034434"/>
            <a:ext cx="6921328" cy="7576041"/>
          </a:xfrm>
          <a:custGeom>
            <a:avLst/>
            <a:gdLst/>
            <a:ahLst/>
            <a:cxnLst/>
            <a:rect r="r" b="b" t="t" l="l"/>
            <a:pathLst>
              <a:path h="7576041" w="6921328">
                <a:moveTo>
                  <a:pt x="0" y="0"/>
                </a:moveTo>
                <a:lnTo>
                  <a:pt x="6921328" y="0"/>
                </a:lnTo>
                <a:lnTo>
                  <a:pt x="6921328" y="7576041"/>
                </a:lnTo>
                <a:lnTo>
                  <a:pt x="0" y="7576041"/>
                </a:lnTo>
                <a:lnTo>
                  <a:pt x="0" y="0"/>
                </a:lnTo>
                <a:close/>
              </a:path>
            </a:pathLst>
          </a:custGeom>
          <a:blipFill>
            <a:blip r:embed="rId4"/>
            <a:stretch>
              <a:fillRect l="0" t="-7638" r="0" b="0"/>
            </a:stretch>
          </a:blipFill>
        </p:spPr>
      </p:sp>
      <p:sp>
        <p:nvSpPr>
          <p:cNvPr name="TextBox 11" id="11"/>
          <p:cNvSpPr txBox="true"/>
          <p:nvPr/>
        </p:nvSpPr>
        <p:spPr>
          <a:xfrm rot="0">
            <a:off x="11352742" y="2926772"/>
            <a:ext cx="527131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Revenue Leaders</a:t>
            </a:r>
          </a:p>
          <a:p>
            <a:pPr algn="l">
              <a:lnSpc>
                <a:spcPts val="3000"/>
              </a:lnSpc>
            </a:pPr>
            <a:r>
              <a:rPr lang="en-US" sz="2000">
                <a:solidFill>
                  <a:srgbClr val="000000"/>
                </a:solidFill>
                <a:latin typeface="Futura"/>
                <a:ea typeface="Futura"/>
                <a:cs typeface="Futura"/>
                <a:sym typeface="Futura"/>
              </a:rPr>
              <a:t>Sports films generate the highest rental revenue, with nearly 4.9K in payments, ahead of Sci-Fi and Animation. This highlights strong customer demand for entertainment linked to action and competition.</a:t>
            </a:r>
          </a:p>
        </p:txBody>
      </p:sp>
      <p:sp>
        <p:nvSpPr>
          <p:cNvPr name="TextBox 12" id="12"/>
          <p:cNvSpPr txBox="true"/>
          <p:nvPr/>
        </p:nvSpPr>
        <p:spPr>
          <a:xfrm rot="0">
            <a:off x="11352742" y="6298787"/>
            <a:ext cx="527131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Business Implications</a:t>
            </a:r>
          </a:p>
          <a:p>
            <a:pPr algn="l">
              <a:lnSpc>
                <a:spcPts val="3000"/>
              </a:lnSpc>
            </a:pPr>
            <a:r>
              <a:rPr lang="en-US" sz="2000">
                <a:solidFill>
                  <a:srgbClr val="000000"/>
                </a:solidFill>
                <a:latin typeface="Futura"/>
                <a:ea typeface="Futura"/>
                <a:cs typeface="Futura"/>
                <a:sym typeface="Futura"/>
              </a:rPr>
              <a:t>Drama and Comedy, while still significant, trail behind the top categories. Focusing promotions on high-earning genres like Sports and Sci-Fi could maximize returns, while maintaining a balanced portfolio for broader appeal.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2650" y="410503"/>
            <a:ext cx="19736480" cy="903044"/>
            <a:chOff x="0" y="0"/>
            <a:chExt cx="5198085" cy="237839"/>
          </a:xfrm>
        </p:grpSpPr>
        <p:sp>
          <p:nvSpPr>
            <p:cNvPr name="Freeform 3" id="3"/>
            <p:cNvSpPr/>
            <p:nvPr/>
          </p:nvSpPr>
          <p:spPr>
            <a:xfrm flipH="false" flipV="false" rot="0">
              <a:off x="0" y="0"/>
              <a:ext cx="5198085" cy="237839"/>
            </a:xfrm>
            <a:custGeom>
              <a:avLst/>
              <a:gdLst/>
              <a:ahLst/>
              <a:cxnLst/>
              <a:rect r="r" b="b" t="t" l="l"/>
              <a:pathLst>
                <a:path h="237839" w="5198085">
                  <a:moveTo>
                    <a:pt x="0" y="0"/>
                  </a:moveTo>
                  <a:lnTo>
                    <a:pt x="5198085" y="0"/>
                  </a:lnTo>
                  <a:lnTo>
                    <a:pt x="5198085" y="237839"/>
                  </a:lnTo>
                  <a:lnTo>
                    <a:pt x="0" y="237839"/>
                  </a:lnTo>
                  <a:close/>
                </a:path>
              </a:pathLst>
            </a:custGeom>
            <a:solidFill>
              <a:srgbClr val="7ED957">
                <a:alpha val="9804"/>
              </a:srgbClr>
            </a:solidFill>
          </p:spPr>
        </p:sp>
        <p:sp>
          <p:nvSpPr>
            <p:cNvPr name="TextBox 4" id="4"/>
            <p:cNvSpPr txBox="true"/>
            <p:nvPr/>
          </p:nvSpPr>
          <p:spPr>
            <a:xfrm>
              <a:off x="0" y="-9525"/>
              <a:ext cx="5198085" cy="247364"/>
            </a:xfrm>
            <a:prstGeom prst="rect">
              <a:avLst/>
            </a:prstGeom>
          </p:spPr>
          <p:txBody>
            <a:bodyPr anchor="ctr" rtlCol="false" tIns="50800" lIns="50800" bIns="50800" rIns="50800"/>
            <a:lstStyle/>
            <a:p>
              <a:pPr algn="ctr">
                <a:lnSpc>
                  <a:spcPts val="2123"/>
                </a:lnSpc>
              </a:pPr>
            </a:p>
          </p:txBody>
        </p:sp>
      </p:grpSp>
      <p:grpSp>
        <p:nvGrpSpPr>
          <p:cNvPr name="Group 5" id="5"/>
          <p:cNvGrpSpPr/>
          <p:nvPr/>
        </p:nvGrpSpPr>
        <p:grpSpPr>
          <a:xfrm rot="0">
            <a:off x="486869" y="8971710"/>
            <a:ext cx="1452735" cy="400470"/>
            <a:chOff x="0" y="0"/>
            <a:chExt cx="382613" cy="105474"/>
          </a:xfrm>
        </p:grpSpPr>
        <p:sp>
          <p:nvSpPr>
            <p:cNvPr name="Freeform 6" id="6"/>
            <p:cNvSpPr/>
            <p:nvPr/>
          </p:nvSpPr>
          <p:spPr>
            <a:xfrm flipH="false" flipV="false" rot="0">
              <a:off x="0" y="0"/>
              <a:ext cx="382613" cy="105474"/>
            </a:xfrm>
            <a:custGeom>
              <a:avLst/>
              <a:gdLst/>
              <a:ahLst/>
              <a:cxnLst/>
              <a:rect r="r" b="b" t="t" l="l"/>
              <a:pathLst>
                <a:path h="105474" w="382613">
                  <a:moveTo>
                    <a:pt x="0" y="0"/>
                  </a:moveTo>
                  <a:lnTo>
                    <a:pt x="382613" y="0"/>
                  </a:lnTo>
                  <a:lnTo>
                    <a:pt x="382613" y="105474"/>
                  </a:lnTo>
                  <a:lnTo>
                    <a:pt x="0" y="105474"/>
                  </a:lnTo>
                  <a:close/>
                </a:path>
              </a:pathLst>
            </a:custGeom>
            <a:solidFill>
              <a:srgbClr val="FFFFFF"/>
            </a:solidFill>
          </p:spPr>
        </p:sp>
        <p:sp>
          <p:nvSpPr>
            <p:cNvPr name="TextBox 7" id="7"/>
            <p:cNvSpPr txBox="true"/>
            <p:nvPr/>
          </p:nvSpPr>
          <p:spPr>
            <a:xfrm>
              <a:off x="0" y="-123825"/>
              <a:ext cx="382613" cy="229299"/>
            </a:xfrm>
            <a:prstGeom prst="rect">
              <a:avLst/>
            </a:prstGeom>
          </p:spPr>
          <p:txBody>
            <a:bodyPr anchor="ctr" rtlCol="false" tIns="50800" lIns="50800" bIns="50800" rIns="50800"/>
            <a:lstStyle/>
            <a:p>
              <a:pPr algn="ctr">
                <a:lnSpc>
                  <a:spcPts val="3749"/>
                </a:lnSpc>
              </a:pPr>
            </a:p>
          </p:txBody>
        </p:sp>
      </p:grpSp>
      <p:sp>
        <p:nvSpPr>
          <p:cNvPr name="TextBox 8" id="8"/>
          <p:cNvSpPr txBox="true"/>
          <p:nvPr/>
        </p:nvSpPr>
        <p:spPr>
          <a:xfrm rot="0">
            <a:off x="0" y="548018"/>
            <a:ext cx="18288000" cy="618490"/>
          </a:xfrm>
          <a:prstGeom prst="rect">
            <a:avLst/>
          </a:prstGeom>
        </p:spPr>
        <p:txBody>
          <a:bodyPr anchor="t" rtlCol="false" tIns="0" lIns="0" bIns="0" rIns="0">
            <a:spAutoFit/>
          </a:bodyPr>
          <a:lstStyle/>
          <a:p>
            <a:pPr algn="ctr">
              <a:lnSpc>
                <a:spcPts val="4879"/>
              </a:lnSpc>
              <a:spcBef>
                <a:spcPct val="0"/>
              </a:spcBef>
            </a:pPr>
            <a:r>
              <a:rPr lang="en-US" sz="3999">
                <a:solidFill>
                  <a:srgbClr val="404040"/>
                </a:solidFill>
                <a:latin typeface="Inter"/>
                <a:ea typeface="Inter"/>
                <a:cs typeface="Inter"/>
                <a:sym typeface="Inter"/>
              </a:rPr>
              <a:t>RENTALS REVENUE BY FILM RATING</a:t>
            </a:r>
          </a:p>
        </p:txBody>
      </p:sp>
      <p:sp>
        <p:nvSpPr>
          <p:cNvPr name="Freeform 9" id="9"/>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939603" y="1851749"/>
            <a:ext cx="6906761" cy="7807235"/>
          </a:xfrm>
          <a:custGeom>
            <a:avLst/>
            <a:gdLst/>
            <a:ahLst/>
            <a:cxnLst/>
            <a:rect r="r" b="b" t="t" l="l"/>
            <a:pathLst>
              <a:path h="7807235" w="6906761">
                <a:moveTo>
                  <a:pt x="0" y="0"/>
                </a:moveTo>
                <a:lnTo>
                  <a:pt x="6906761" y="0"/>
                </a:lnTo>
                <a:lnTo>
                  <a:pt x="6906761" y="7807235"/>
                </a:lnTo>
                <a:lnTo>
                  <a:pt x="0" y="7807235"/>
                </a:lnTo>
                <a:lnTo>
                  <a:pt x="0" y="0"/>
                </a:lnTo>
                <a:close/>
              </a:path>
            </a:pathLst>
          </a:custGeom>
          <a:blipFill>
            <a:blip r:embed="rId4"/>
            <a:stretch>
              <a:fillRect l="0" t="-6585" r="0" b="0"/>
            </a:stretch>
          </a:blipFill>
        </p:spPr>
      </p:sp>
      <p:sp>
        <p:nvSpPr>
          <p:cNvPr name="TextBox 11" id="11"/>
          <p:cNvSpPr txBox="true"/>
          <p:nvPr/>
        </p:nvSpPr>
        <p:spPr>
          <a:xfrm rot="0">
            <a:off x="11352742" y="2926772"/>
            <a:ext cx="527131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Revenue Leaders</a:t>
            </a:r>
          </a:p>
          <a:p>
            <a:pPr algn="l">
              <a:lnSpc>
                <a:spcPts val="3000"/>
              </a:lnSpc>
            </a:pPr>
            <a:r>
              <a:rPr lang="en-US" sz="2000">
                <a:solidFill>
                  <a:srgbClr val="000000"/>
                </a:solidFill>
                <a:latin typeface="Futura"/>
                <a:ea typeface="Futura"/>
                <a:cs typeface="Futura"/>
                <a:sym typeface="Futura"/>
              </a:rPr>
              <a:t>Movies rated </a:t>
            </a:r>
            <a:r>
              <a:rPr lang="en-US" sz="2000" b="true">
                <a:solidFill>
                  <a:srgbClr val="000000"/>
                </a:solidFill>
                <a:latin typeface="Futura Bold"/>
                <a:ea typeface="Futura Bold"/>
                <a:cs typeface="Futura Bold"/>
                <a:sym typeface="Futura Bold"/>
              </a:rPr>
              <a:t>PG-13</a:t>
            </a:r>
            <a:r>
              <a:rPr lang="en-US" sz="2000">
                <a:solidFill>
                  <a:srgbClr val="000000"/>
                </a:solidFill>
                <a:latin typeface="Futura"/>
                <a:ea typeface="Futura"/>
                <a:cs typeface="Futura"/>
                <a:sym typeface="Futura"/>
              </a:rPr>
              <a:t> bring in the highest rental revenue at nearly </a:t>
            </a:r>
            <a:r>
              <a:rPr lang="en-US" sz="2000" b="true">
                <a:solidFill>
                  <a:srgbClr val="000000"/>
                </a:solidFill>
                <a:latin typeface="Futura Bold"/>
                <a:ea typeface="Futura Bold"/>
                <a:cs typeface="Futura Bold"/>
                <a:sym typeface="Futura Bold"/>
              </a:rPr>
              <a:t>14K</a:t>
            </a:r>
            <a:r>
              <a:rPr lang="en-US" sz="2000">
                <a:solidFill>
                  <a:srgbClr val="000000"/>
                </a:solidFill>
                <a:latin typeface="Futura"/>
                <a:ea typeface="Futura"/>
                <a:cs typeface="Futura"/>
                <a:sym typeface="Futura"/>
              </a:rPr>
              <a:t>, ahead of NC-17 and PG-rated films. This confirms that family-friendly but slightly mature content is Rockbuster’s strongest performer.</a:t>
            </a:r>
          </a:p>
        </p:txBody>
      </p:sp>
      <p:sp>
        <p:nvSpPr>
          <p:cNvPr name="TextBox 12" id="12"/>
          <p:cNvSpPr txBox="true"/>
          <p:nvPr/>
        </p:nvSpPr>
        <p:spPr>
          <a:xfrm rot="0">
            <a:off x="11352742" y="6298787"/>
            <a:ext cx="5271314"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Strategic Insight</a:t>
            </a:r>
          </a:p>
          <a:p>
            <a:pPr algn="l">
              <a:lnSpc>
                <a:spcPts val="3000"/>
              </a:lnSpc>
            </a:pPr>
            <a:r>
              <a:rPr lang="en-US" sz="2000">
                <a:solidFill>
                  <a:srgbClr val="000000"/>
                </a:solidFill>
                <a:latin typeface="Futura"/>
                <a:ea typeface="Futura"/>
                <a:cs typeface="Futura"/>
                <a:sym typeface="Futura"/>
              </a:rPr>
              <a:t>While other ratings such as R and G also generate solid revenue, the dominance of PG-13 suggests focusing marketing and acquisitions on this rating could yield the highest returns.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2650" y="410503"/>
            <a:ext cx="19736480" cy="903044"/>
            <a:chOff x="0" y="0"/>
            <a:chExt cx="5198085" cy="237839"/>
          </a:xfrm>
        </p:grpSpPr>
        <p:sp>
          <p:nvSpPr>
            <p:cNvPr name="Freeform 3" id="3"/>
            <p:cNvSpPr/>
            <p:nvPr/>
          </p:nvSpPr>
          <p:spPr>
            <a:xfrm flipH="false" flipV="false" rot="0">
              <a:off x="0" y="0"/>
              <a:ext cx="5198085" cy="237839"/>
            </a:xfrm>
            <a:custGeom>
              <a:avLst/>
              <a:gdLst/>
              <a:ahLst/>
              <a:cxnLst/>
              <a:rect r="r" b="b" t="t" l="l"/>
              <a:pathLst>
                <a:path h="237839" w="5198085">
                  <a:moveTo>
                    <a:pt x="0" y="0"/>
                  </a:moveTo>
                  <a:lnTo>
                    <a:pt x="5198085" y="0"/>
                  </a:lnTo>
                  <a:lnTo>
                    <a:pt x="5198085" y="237839"/>
                  </a:lnTo>
                  <a:lnTo>
                    <a:pt x="0" y="237839"/>
                  </a:lnTo>
                  <a:close/>
                </a:path>
              </a:pathLst>
            </a:custGeom>
            <a:solidFill>
              <a:srgbClr val="7ED957">
                <a:alpha val="9804"/>
              </a:srgbClr>
            </a:solidFill>
          </p:spPr>
        </p:sp>
        <p:sp>
          <p:nvSpPr>
            <p:cNvPr name="TextBox 4" id="4"/>
            <p:cNvSpPr txBox="true"/>
            <p:nvPr/>
          </p:nvSpPr>
          <p:spPr>
            <a:xfrm>
              <a:off x="0" y="-9525"/>
              <a:ext cx="5198085" cy="247364"/>
            </a:xfrm>
            <a:prstGeom prst="rect">
              <a:avLst/>
            </a:prstGeom>
          </p:spPr>
          <p:txBody>
            <a:bodyPr anchor="ctr" rtlCol="false" tIns="50800" lIns="50800" bIns="50800" rIns="50800"/>
            <a:lstStyle/>
            <a:p>
              <a:pPr algn="ctr">
                <a:lnSpc>
                  <a:spcPts val="2123"/>
                </a:lnSpc>
              </a:pPr>
            </a:p>
          </p:txBody>
        </p:sp>
      </p:grpSp>
      <p:sp>
        <p:nvSpPr>
          <p:cNvPr name="TextBox 5" id="5"/>
          <p:cNvSpPr txBox="true"/>
          <p:nvPr/>
        </p:nvSpPr>
        <p:spPr>
          <a:xfrm rot="0">
            <a:off x="0" y="548018"/>
            <a:ext cx="18288000" cy="618490"/>
          </a:xfrm>
          <a:prstGeom prst="rect">
            <a:avLst/>
          </a:prstGeom>
        </p:spPr>
        <p:txBody>
          <a:bodyPr anchor="t" rtlCol="false" tIns="0" lIns="0" bIns="0" rIns="0">
            <a:spAutoFit/>
          </a:bodyPr>
          <a:lstStyle/>
          <a:p>
            <a:pPr algn="ctr">
              <a:lnSpc>
                <a:spcPts val="4879"/>
              </a:lnSpc>
              <a:spcBef>
                <a:spcPct val="0"/>
              </a:spcBef>
            </a:pPr>
            <a:r>
              <a:rPr lang="en-US" sz="3999">
                <a:solidFill>
                  <a:srgbClr val="404040"/>
                </a:solidFill>
                <a:latin typeface="Inter"/>
                <a:ea typeface="Inter"/>
                <a:cs typeface="Inter"/>
                <a:sym typeface="Inter"/>
              </a:rPr>
              <a:t>BEST PERFORMING GENRES IN TOP COUNTRIES</a:t>
            </a:r>
          </a:p>
        </p:txBody>
      </p:sp>
      <p:sp>
        <p:nvSpPr>
          <p:cNvPr name="Freeform 6" id="6"/>
          <p:cNvSpPr/>
          <p:nvPr/>
        </p:nvSpPr>
        <p:spPr>
          <a:xfrm flipH="false" flipV="false" rot="2700000">
            <a:off x="16559529" y="177200"/>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319319" y="2463950"/>
            <a:ext cx="9175694" cy="7178887"/>
          </a:xfrm>
          <a:custGeom>
            <a:avLst/>
            <a:gdLst/>
            <a:ahLst/>
            <a:cxnLst/>
            <a:rect r="r" b="b" t="t" l="l"/>
            <a:pathLst>
              <a:path h="7178887" w="9175694">
                <a:moveTo>
                  <a:pt x="0" y="0"/>
                </a:moveTo>
                <a:lnTo>
                  <a:pt x="9175694" y="0"/>
                </a:lnTo>
                <a:lnTo>
                  <a:pt x="9175694" y="7178887"/>
                </a:lnTo>
                <a:lnTo>
                  <a:pt x="0" y="7178887"/>
                </a:lnTo>
                <a:lnTo>
                  <a:pt x="0" y="0"/>
                </a:lnTo>
                <a:close/>
              </a:path>
            </a:pathLst>
          </a:custGeom>
          <a:blipFill>
            <a:blip r:embed="rId4"/>
            <a:stretch>
              <a:fillRect l="0" t="-7524" r="0" b="0"/>
            </a:stretch>
          </a:blipFill>
        </p:spPr>
      </p:sp>
      <p:sp>
        <p:nvSpPr>
          <p:cNvPr name="Freeform 8" id="8"/>
          <p:cNvSpPr/>
          <p:nvPr/>
        </p:nvSpPr>
        <p:spPr>
          <a:xfrm flipH="false" flipV="false" rot="0">
            <a:off x="15833292" y="2622537"/>
            <a:ext cx="1661721" cy="1194518"/>
          </a:xfrm>
          <a:custGeom>
            <a:avLst/>
            <a:gdLst/>
            <a:ahLst/>
            <a:cxnLst/>
            <a:rect r="r" b="b" t="t" l="l"/>
            <a:pathLst>
              <a:path h="1194518" w="1661721">
                <a:moveTo>
                  <a:pt x="0" y="0"/>
                </a:moveTo>
                <a:lnTo>
                  <a:pt x="1661721" y="0"/>
                </a:lnTo>
                <a:lnTo>
                  <a:pt x="1661721" y="1194518"/>
                </a:lnTo>
                <a:lnTo>
                  <a:pt x="0" y="1194518"/>
                </a:lnTo>
                <a:lnTo>
                  <a:pt x="0" y="0"/>
                </a:lnTo>
                <a:close/>
              </a:path>
            </a:pathLst>
          </a:custGeom>
          <a:blipFill>
            <a:blip r:embed="rId5"/>
            <a:stretch>
              <a:fillRect l="-10656" t="-56552" r="-91960" b="-14275"/>
            </a:stretch>
          </a:blipFill>
        </p:spPr>
      </p:sp>
      <p:sp>
        <p:nvSpPr>
          <p:cNvPr name="TextBox 9" id="9"/>
          <p:cNvSpPr txBox="true"/>
          <p:nvPr/>
        </p:nvSpPr>
        <p:spPr>
          <a:xfrm rot="0">
            <a:off x="1028700" y="3157711"/>
            <a:ext cx="5573813" cy="2695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Genres Leaders</a:t>
            </a:r>
          </a:p>
          <a:p>
            <a:pPr algn="l">
              <a:lnSpc>
                <a:spcPts val="3000"/>
              </a:lnSpc>
            </a:pPr>
            <a:r>
              <a:rPr lang="en-US" sz="2000">
                <a:solidFill>
                  <a:srgbClr val="000000"/>
                </a:solidFill>
                <a:latin typeface="Futura"/>
                <a:ea typeface="Futura"/>
                <a:cs typeface="Futura"/>
                <a:sym typeface="Futura"/>
              </a:rPr>
              <a:t>In top markets, specific genres outperform the rest. For example, Sci-Fi leads in the Russia, while Animation dominates in the Philippines. In China, both Sports and Animation hold a significant edge, and in Mexico, Sports and Sci-Fi show higher traction compared to other categories.</a:t>
            </a:r>
          </a:p>
        </p:txBody>
      </p:sp>
      <p:sp>
        <p:nvSpPr>
          <p:cNvPr name="TextBox 10" id="10"/>
          <p:cNvSpPr txBox="true"/>
          <p:nvPr/>
        </p:nvSpPr>
        <p:spPr>
          <a:xfrm rot="0">
            <a:off x="1028700" y="6529726"/>
            <a:ext cx="5573813" cy="2314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Strategic Insight</a:t>
            </a:r>
          </a:p>
          <a:p>
            <a:pPr algn="l">
              <a:lnSpc>
                <a:spcPts val="3000"/>
              </a:lnSpc>
            </a:pPr>
            <a:r>
              <a:rPr lang="en-US" sz="2000">
                <a:solidFill>
                  <a:srgbClr val="000000"/>
                </a:solidFill>
                <a:latin typeface="Futura"/>
                <a:ea typeface="Futura"/>
                <a:cs typeface="Futura"/>
                <a:sym typeface="Futura"/>
              </a:rPr>
              <a:t>Rockbuster can use this knowledge to tailor marketing, doubling down on trending genres in each country, and reassessing investment in weaker categories where customer interest is lower.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7767670" y="390710"/>
            <a:ext cx="2752660" cy="2618468"/>
          </a:xfrm>
          <a:custGeom>
            <a:avLst/>
            <a:gdLst/>
            <a:ahLst/>
            <a:cxnLst/>
            <a:rect r="r" b="b" t="t" l="l"/>
            <a:pathLst>
              <a:path h="2618468" w="2752660">
                <a:moveTo>
                  <a:pt x="0" y="0"/>
                </a:moveTo>
                <a:lnTo>
                  <a:pt x="2752660" y="0"/>
                </a:lnTo>
                <a:lnTo>
                  <a:pt x="2752660" y="2618468"/>
                </a:lnTo>
                <a:lnTo>
                  <a:pt x="0" y="26184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68573" y="2160146"/>
            <a:ext cx="14950853" cy="972528"/>
          </a:xfrm>
          <a:prstGeom prst="rect">
            <a:avLst/>
          </a:prstGeom>
        </p:spPr>
        <p:txBody>
          <a:bodyPr anchor="t" rtlCol="false" tIns="0" lIns="0" bIns="0" rIns="0">
            <a:spAutoFit/>
          </a:bodyPr>
          <a:lstStyle/>
          <a:p>
            <a:pPr algn="ctr">
              <a:lnSpc>
                <a:spcPts val="7664"/>
              </a:lnSpc>
            </a:pPr>
            <a:r>
              <a:rPr lang="en-US" b="true" sz="6131" spc="171">
                <a:solidFill>
                  <a:srgbClr val="404040"/>
                </a:solidFill>
                <a:latin typeface="Inter Bold"/>
                <a:ea typeface="Inter Bold"/>
                <a:cs typeface="Inter Bold"/>
                <a:sym typeface="Inter Bold"/>
              </a:rPr>
              <a:t>KEY TAKEAWAYS</a:t>
            </a:r>
          </a:p>
        </p:txBody>
      </p:sp>
      <p:sp>
        <p:nvSpPr>
          <p:cNvPr name="TextBox 4" id="4"/>
          <p:cNvSpPr txBox="true"/>
          <p:nvPr/>
        </p:nvSpPr>
        <p:spPr>
          <a:xfrm rot="0">
            <a:off x="10419155" y="4077871"/>
            <a:ext cx="5271314" cy="1933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Genres show countries differences</a:t>
            </a:r>
            <a:r>
              <a:rPr lang="en-US" sz="2000">
                <a:solidFill>
                  <a:srgbClr val="000000"/>
                </a:solidFill>
                <a:latin typeface="Futura"/>
                <a:ea typeface="Futura"/>
                <a:cs typeface="Futura"/>
                <a:sym typeface="Futura"/>
              </a:rPr>
              <a:t>: Sci-Fi stands out in Russia, Animation in the Philippines, and Sports in the U.S. and India. Could be worth it to improve marketing here to maximise revenue.</a:t>
            </a:r>
          </a:p>
        </p:txBody>
      </p:sp>
      <p:sp>
        <p:nvSpPr>
          <p:cNvPr name="TextBox 5" id="5"/>
          <p:cNvSpPr txBox="true"/>
          <p:nvPr/>
        </p:nvSpPr>
        <p:spPr>
          <a:xfrm rot="0">
            <a:off x="10419155" y="6802021"/>
            <a:ext cx="5271314" cy="1171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PG-13 films dominate revenue,</a:t>
            </a:r>
            <a:r>
              <a:rPr lang="en-US" sz="2000">
                <a:solidFill>
                  <a:srgbClr val="000000"/>
                </a:solidFill>
                <a:latin typeface="Futura"/>
                <a:ea typeface="Futura"/>
                <a:cs typeface="Futura"/>
                <a:sym typeface="Futura"/>
              </a:rPr>
              <a:t> confirming family-oriented but slightly mature content as Rockbuster’s stronger rating rentals.</a:t>
            </a:r>
          </a:p>
        </p:txBody>
      </p:sp>
      <p:sp>
        <p:nvSpPr>
          <p:cNvPr name="TextBox 6" id="6"/>
          <p:cNvSpPr txBox="true"/>
          <p:nvPr/>
        </p:nvSpPr>
        <p:spPr>
          <a:xfrm rot="0">
            <a:off x="2597531" y="4077871"/>
            <a:ext cx="5271314" cy="1552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Asia leads Rockbuster’s most profitable customer base,</a:t>
            </a:r>
            <a:r>
              <a:rPr lang="en-US" sz="2000">
                <a:solidFill>
                  <a:srgbClr val="000000"/>
                </a:solidFill>
                <a:latin typeface="Futura"/>
                <a:ea typeface="Futura"/>
                <a:cs typeface="Futura"/>
                <a:sym typeface="Futura"/>
              </a:rPr>
              <a:t> with India, China, Japan and Indonesia driving more revenue, while the U.S. remains the strongest non-Asian market.</a:t>
            </a:r>
          </a:p>
        </p:txBody>
      </p:sp>
      <p:sp>
        <p:nvSpPr>
          <p:cNvPr name="TextBox 7" id="7"/>
          <p:cNvSpPr txBox="true"/>
          <p:nvPr/>
        </p:nvSpPr>
        <p:spPr>
          <a:xfrm rot="0">
            <a:off x="2597531" y="6802021"/>
            <a:ext cx="5271314" cy="1552575"/>
          </a:xfrm>
          <a:prstGeom prst="rect">
            <a:avLst/>
          </a:prstGeom>
        </p:spPr>
        <p:txBody>
          <a:bodyPr anchor="t" rtlCol="false" tIns="0" lIns="0" bIns="0" rIns="0">
            <a:spAutoFit/>
          </a:bodyPr>
          <a:lstStyle/>
          <a:p>
            <a:pPr algn="l">
              <a:lnSpc>
                <a:spcPts val="3000"/>
              </a:lnSpc>
            </a:pPr>
            <a:r>
              <a:rPr lang="en-US" sz="2000" b="true">
                <a:solidFill>
                  <a:srgbClr val="000000"/>
                </a:solidFill>
                <a:latin typeface="Futura Bold"/>
                <a:ea typeface="Futura Bold"/>
                <a:cs typeface="Futura Bold"/>
                <a:sym typeface="Futura Bold"/>
              </a:rPr>
              <a:t>Average spend per customer is significantly higher in two countries, </a:t>
            </a:r>
            <a:r>
              <a:rPr lang="en-US" sz="2000">
                <a:solidFill>
                  <a:srgbClr val="000000"/>
                </a:solidFill>
                <a:latin typeface="Futura"/>
                <a:ea typeface="Futura"/>
                <a:cs typeface="Futura"/>
                <a:sym typeface="Futura"/>
              </a:rPr>
              <a:t>with markets like Taiwan and the Philippines that clearly have higher spending customers.</a:t>
            </a:r>
          </a:p>
        </p:txBody>
      </p:sp>
      <p:grpSp>
        <p:nvGrpSpPr>
          <p:cNvPr name="Group 8" id="8"/>
          <p:cNvGrpSpPr/>
          <p:nvPr/>
        </p:nvGrpSpPr>
        <p:grpSpPr>
          <a:xfrm rot="0">
            <a:off x="-724240" y="609551"/>
            <a:ext cx="19736480" cy="2622512"/>
            <a:chOff x="0" y="0"/>
            <a:chExt cx="5198085" cy="690703"/>
          </a:xfrm>
        </p:grpSpPr>
        <p:sp>
          <p:nvSpPr>
            <p:cNvPr name="Freeform 9" id="9"/>
            <p:cNvSpPr/>
            <p:nvPr/>
          </p:nvSpPr>
          <p:spPr>
            <a:xfrm flipH="false" flipV="false" rot="0">
              <a:off x="0" y="0"/>
              <a:ext cx="5198085" cy="690703"/>
            </a:xfrm>
            <a:custGeom>
              <a:avLst/>
              <a:gdLst/>
              <a:ahLst/>
              <a:cxnLst/>
              <a:rect r="r" b="b" t="t" l="l"/>
              <a:pathLst>
                <a:path h="690703" w="5198085">
                  <a:moveTo>
                    <a:pt x="0" y="0"/>
                  </a:moveTo>
                  <a:lnTo>
                    <a:pt x="5198085" y="0"/>
                  </a:lnTo>
                  <a:lnTo>
                    <a:pt x="5198085" y="690703"/>
                  </a:lnTo>
                  <a:lnTo>
                    <a:pt x="0" y="690703"/>
                  </a:lnTo>
                  <a:close/>
                </a:path>
              </a:pathLst>
            </a:custGeom>
            <a:solidFill>
              <a:srgbClr val="7ED957">
                <a:alpha val="9804"/>
              </a:srgbClr>
            </a:solidFill>
          </p:spPr>
        </p:sp>
        <p:sp>
          <p:nvSpPr>
            <p:cNvPr name="TextBox 10" id="10"/>
            <p:cNvSpPr txBox="true"/>
            <p:nvPr/>
          </p:nvSpPr>
          <p:spPr>
            <a:xfrm>
              <a:off x="0" y="-9525"/>
              <a:ext cx="5198085" cy="700228"/>
            </a:xfrm>
            <a:prstGeom prst="rect">
              <a:avLst/>
            </a:prstGeom>
          </p:spPr>
          <p:txBody>
            <a:bodyPr anchor="ctr" rtlCol="false" tIns="50800" lIns="50800" bIns="50800" rIns="50800"/>
            <a:lstStyle/>
            <a:p>
              <a:pPr algn="ctr">
                <a:lnSpc>
                  <a:spcPts val="2123"/>
                </a:lnSpc>
              </a:pPr>
            </a:p>
          </p:txBody>
        </p:sp>
      </p:grpSp>
      <p:grpSp>
        <p:nvGrpSpPr>
          <p:cNvPr name="Group 11" id="11"/>
          <p:cNvGrpSpPr/>
          <p:nvPr/>
        </p:nvGrpSpPr>
        <p:grpSpPr>
          <a:xfrm rot="0">
            <a:off x="-166072" y="8988747"/>
            <a:ext cx="19736480" cy="903044"/>
            <a:chOff x="0" y="0"/>
            <a:chExt cx="5198085" cy="237839"/>
          </a:xfrm>
        </p:grpSpPr>
        <p:sp>
          <p:nvSpPr>
            <p:cNvPr name="Freeform 12" id="12"/>
            <p:cNvSpPr/>
            <p:nvPr/>
          </p:nvSpPr>
          <p:spPr>
            <a:xfrm flipH="false" flipV="false" rot="0">
              <a:off x="0" y="0"/>
              <a:ext cx="5198085" cy="237839"/>
            </a:xfrm>
            <a:custGeom>
              <a:avLst/>
              <a:gdLst/>
              <a:ahLst/>
              <a:cxnLst/>
              <a:rect r="r" b="b" t="t" l="l"/>
              <a:pathLst>
                <a:path h="237839" w="5198085">
                  <a:moveTo>
                    <a:pt x="0" y="0"/>
                  </a:moveTo>
                  <a:lnTo>
                    <a:pt x="5198085" y="0"/>
                  </a:lnTo>
                  <a:lnTo>
                    <a:pt x="5198085" y="237839"/>
                  </a:lnTo>
                  <a:lnTo>
                    <a:pt x="0" y="237839"/>
                  </a:lnTo>
                  <a:close/>
                </a:path>
              </a:pathLst>
            </a:custGeom>
            <a:solidFill>
              <a:srgbClr val="7ED957">
                <a:alpha val="9804"/>
              </a:srgbClr>
            </a:solidFill>
          </p:spPr>
        </p:sp>
        <p:sp>
          <p:nvSpPr>
            <p:cNvPr name="TextBox 13" id="13"/>
            <p:cNvSpPr txBox="true"/>
            <p:nvPr/>
          </p:nvSpPr>
          <p:spPr>
            <a:xfrm>
              <a:off x="0" y="-9525"/>
              <a:ext cx="5198085" cy="247364"/>
            </a:xfrm>
            <a:prstGeom prst="rect">
              <a:avLst/>
            </a:prstGeom>
          </p:spPr>
          <p:txBody>
            <a:bodyPr anchor="ctr" rtlCol="false" tIns="50800" lIns="50800" bIns="50800" rIns="50800"/>
            <a:lstStyle/>
            <a:p>
              <a:pPr algn="ctr">
                <a:lnSpc>
                  <a:spcPts val="2123"/>
                </a:lnSpc>
              </a:pPr>
            </a:p>
          </p:txBody>
        </p:sp>
      </p:grpSp>
      <p:sp>
        <p:nvSpPr>
          <p:cNvPr name="Freeform 14" id="14"/>
          <p:cNvSpPr/>
          <p:nvPr/>
        </p:nvSpPr>
        <p:spPr>
          <a:xfrm flipH="false" flipV="false" rot="2700000">
            <a:off x="16846107" y="8755443"/>
            <a:ext cx="1870968" cy="1779758"/>
          </a:xfrm>
          <a:custGeom>
            <a:avLst/>
            <a:gdLst/>
            <a:ahLst/>
            <a:cxnLst/>
            <a:rect r="r" b="b" t="t" l="l"/>
            <a:pathLst>
              <a:path h="1779758" w="1870968">
                <a:moveTo>
                  <a:pt x="0" y="0"/>
                </a:moveTo>
                <a:lnTo>
                  <a:pt x="1870968" y="0"/>
                </a:lnTo>
                <a:lnTo>
                  <a:pt x="1870968" y="1779758"/>
                </a:lnTo>
                <a:lnTo>
                  <a:pt x="0" y="1779758"/>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DAGyZxTrImM</dc:identifier>
  <dcterms:modified xsi:type="dcterms:W3CDTF">2011-08-01T06:04:30Z</dcterms:modified>
  <cp:revision>1</cp:revision>
  <dc:title>rockbuter_presentation</dc:title>
</cp:coreProperties>
</file>